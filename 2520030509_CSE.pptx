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8"/>
  </p:notesMasterIdLst>
  <p:handoutMasterIdLst>
    <p:handoutMasterId r:id="rId29"/>
  </p:handoutMasterIdLst>
  <p:sldIdLst>
    <p:sldId id="261" r:id="rId3"/>
    <p:sldId id="314" r:id="rId4"/>
    <p:sldId id="322" r:id="rId5"/>
    <p:sldId id="323" r:id="rId6"/>
    <p:sldId id="266" r:id="rId7"/>
    <p:sldId id="341" r:id="rId8"/>
    <p:sldId id="342" r:id="rId9"/>
    <p:sldId id="343" r:id="rId10"/>
    <p:sldId id="344" r:id="rId11"/>
    <p:sldId id="349" r:id="rId12"/>
    <p:sldId id="350" r:id="rId13"/>
    <p:sldId id="357" r:id="rId14"/>
    <p:sldId id="358" r:id="rId15"/>
    <p:sldId id="340" r:id="rId16"/>
    <p:sldId id="351" r:id="rId17"/>
    <p:sldId id="352" r:id="rId18"/>
    <p:sldId id="353" r:id="rId19"/>
    <p:sldId id="354" r:id="rId20"/>
    <p:sldId id="355" r:id="rId21"/>
    <p:sldId id="356" r:id="rId22"/>
    <p:sldId id="360" r:id="rId23"/>
    <p:sldId id="361" r:id="rId24"/>
    <p:sldId id="347" r:id="rId25"/>
    <p:sldId id="348" r:id="rId26"/>
    <p:sldId id="33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4794C4-148B-476D-9531-8FDD507A5F51}" v="109" dt="2026-03-06T15:53:06.9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93" d="100"/>
          <a:sy n="93" d="100"/>
        </p:scale>
        <p:origin x="91" y="134"/>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3/6/2026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06-03-2026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06-03-2026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06-03-2026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06-03-2026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06-03-2026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06-03-2026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06-03-2026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06-03-2026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06-03-2026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06-03-2026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06-03-2026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06-03-2026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06-03-2026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06-03-2026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06-03-2026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06-03-2026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06-03-2026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06-03-2026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BUS DELAY AND CROWD REPORTING NETWORK</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M.V.L.Samhita</a:t>
            </a:r>
            <a:endParaRPr lang="en-US" sz="9600" dirty="0"/>
          </a:p>
          <a:p>
            <a:pPr marL="0" indent="0" algn="ctr">
              <a:buNone/>
            </a:pPr>
            <a:r>
              <a:rPr lang="en-US" sz="9600" dirty="0"/>
              <a:t>Student ID: 2520030509</a:t>
            </a:r>
          </a:p>
          <a:p>
            <a:pPr marL="0" indent="0" algn="ctr">
              <a:buNone/>
            </a:pPr>
            <a:r>
              <a:rPr lang="en-US" sz="11200" dirty="0"/>
              <a:t>Cluster:2</a:t>
            </a:r>
          </a:p>
          <a:p>
            <a:pPr marL="0" indent="0" algn="ctr">
              <a:buNone/>
            </a:pPr>
            <a:r>
              <a:rPr lang="en-US" sz="11200" dirty="0"/>
              <a:t>Section: 8</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06-03-2026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133939" y="5242381"/>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4057" y="3265684"/>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Dr. Jayaram Boga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dirty="0"/>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06-03-2026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Bus delays, overcrowding, and uncertain arrival times often create inconvenience for available bus details and updates. The Admin page is used </a:t>
            </a:r>
            <a:r>
              <a:rPr lang="en-US" sz="2400" dirty="0" err="1">
                <a:latin typeface="Times New Roman" panose="02020603050405020304" pitchFamily="18" charset="0"/>
                <a:cs typeface="Times New Roman" panose="02020603050405020304" pitchFamily="18" charset="0"/>
              </a:rPr>
              <a:t>topassengers</a:t>
            </a:r>
            <a:r>
              <a:rPr lang="en-US" sz="2400" dirty="0">
                <a:latin typeface="Times New Roman" panose="02020603050405020304" pitchFamily="18" charset="0"/>
                <a:cs typeface="Times New Roman" panose="02020603050405020304" pitchFamily="18" charset="0"/>
              </a:rPr>
              <a:t>. This project presents a platform focused on bus transport where travelers can share and access updates about bus delays, crowd levels, and route information. The platform includes two main sections: a User page and an Admin page. Through the User page, passengers can submit reports about delays and crowd conditions while also viewing  monitor and manage the submitted information. By combining passenger contributions with organized bus information, the platform helps commuters stay informed and plan their travel more efficiently.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57200" lvl="1" indent="-339725" algn="just"/>
            <a:r>
              <a:rPr lang="en-US" dirty="0">
                <a:latin typeface="Times New Roman" panose="02020603050405020304" pitchFamily="18" charset="0"/>
                <a:cs typeface="Times New Roman" panose="02020603050405020304" pitchFamily="18" charset="0"/>
              </a:rPr>
              <a:t>Moovit – Offers route planning, live arrival information, and some crowd reports, but it mainly depends on transport agency data and limited user reports. </a:t>
            </a:r>
          </a:p>
          <a:p>
            <a:pPr marL="457200" lvl="1" indent="-339725" algn="just"/>
            <a:r>
              <a:rPr lang="en-US" dirty="0">
                <a:latin typeface="Times New Roman" panose="02020603050405020304" pitchFamily="18" charset="0"/>
                <a:cs typeface="Times New Roman" panose="02020603050405020304" pitchFamily="18" charset="0"/>
              </a:rPr>
              <a:t>Transit – Shows schedules, nearby stops, and real-time vehicle tracking, but passenger-based reporting of delays or crowd levels is limited.</a:t>
            </a:r>
          </a:p>
          <a:p>
            <a:pPr marL="457200" lvl="1" indent="-339725" algn="just"/>
            <a:r>
              <a:rPr lang="en-US" dirty="0">
                <a:latin typeface="Times New Roman" panose="02020603050405020304" pitchFamily="18" charset="0"/>
                <a:cs typeface="Times New Roman" panose="02020603050405020304" pitchFamily="18" charset="0"/>
              </a:rPr>
              <a:t>Many transport websites only provide fixed timetables and route information, which may not reflect actual delays or bus crowd situations.</a:t>
            </a:r>
          </a:p>
          <a:p>
            <a:pPr marL="457200" lvl="1" indent="-339725" algn="just"/>
            <a:r>
              <a:rPr lang="en-US" dirty="0">
                <a:latin typeface="Times New Roman" panose="02020603050405020304" pitchFamily="18" charset="0"/>
                <a:cs typeface="Times New Roman" panose="02020603050405020304" pitchFamily="18" charset="0"/>
              </a:rPr>
              <a:t>Passengers usually ask other commuters or bus staff for delay information.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06-03-2026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Develop a bus transport platform focused on delay and crowd reporting.</a:t>
            </a:r>
          </a:p>
          <a:p>
            <a:r>
              <a:rPr lang="en-US" sz="2400" dirty="0">
                <a:latin typeface="Times New Roman" panose="02020603050405020304" pitchFamily="18" charset="0"/>
                <a:cs typeface="Times New Roman" panose="02020603050405020304" pitchFamily="18" charset="0"/>
              </a:rPr>
              <a:t>Passengers can submit reports about bus delays and crowd levels</a:t>
            </a:r>
          </a:p>
          <a:p>
            <a:r>
              <a:rPr lang="en-US" sz="2400" dirty="0">
                <a:latin typeface="Times New Roman" panose="02020603050405020304" pitchFamily="18" charset="0"/>
                <a:cs typeface="Times New Roman" panose="02020603050405020304" pitchFamily="18" charset="0"/>
              </a:rPr>
              <a:t>System includes two main sections: User Page and Admin Page.</a:t>
            </a:r>
          </a:p>
          <a:p>
            <a:r>
              <a:rPr lang="en-US" sz="2400" dirty="0">
                <a:latin typeface="Times New Roman" panose="02020603050405020304" pitchFamily="18" charset="0"/>
                <a:cs typeface="Times New Roman" panose="02020603050405020304" pitchFamily="18" charset="0"/>
              </a:rPr>
              <a:t>Other users can view updated information before boarding a bus.</a:t>
            </a:r>
          </a:p>
          <a:p>
            <a:r>
              <a:rPr lang="en-US" sz="2400" dirty="0">
                <a:latin typeface="Times New Roman" panose="02020603050405020304" pitchFamily="18" charset="0"/>
                <a:cs typeface="Times New Roman" panose="02020603050405020304" pitchFamily="18" charset="0"/>
              </a:rPr>
              <a:t>User Page: submit reports, check bus information and updates.</a:t>
            </a:r>
          </a:p>
          <a:p>
            <a:r>
              <a:rPr lang="en-US" sz="2400" dirty="0">
                <a:latin typeface="Times New Roman" panose="02020603050405020304" pitchFamily="18" charset="0"/>
                <a:cs typeface="Times New Roman" panose="02020603050405020304" pitchFamily="18" charset="0"/>
              </a:rPr>
              <a:t>Admin Page: monitor reports and maintain system data.</a:t>
            </a:r>
          </a:p>
          <a:p>
            <a:r>
              <a:rPr lang="en-US" sz="2400" dirty="0">
                <a:latin typeface="Times New Roman" panose="02020603050405020304" pitchFamily="18" charset="0"/>
                <a:cs typeface="Times New Roman" panose="02020603050405020304" pitchFamily="18" charset="0"/>
              </a:rPr>
              <a:t>Helps passengers make better travel decisions and reduce waiting time.</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EFFA8CCC-7D4D-3A9C-11DE-8911D873BD46}"/>
              </a:ext>
            </a:extLst>
          </p:cNvPr>
          <p:cNvPicPr>
            <a:picLocks noGrp="1" noChangeAspect="1"/>
          </p:cNvPicPr>
          <p:nvPr>
            <p:ph idx="1"/>
          </p:nvPr>
        </p:nvPicPr>
        <p:blipFill>
          <a:blip r:embed="rId2"/>
          <a:stretch>
            <a:fillRect/>
          </a:stretch>
        </p:blipFill>
        <p:spPr>
          <a:xfrm>
            <a:off x="937054" y="2453461"/>
            <a:ext cx="10515600" cy="2942562"/>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523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200" y="987452"/>
            <a:ext cx="10832757" cy="4622516"/>
          </a:xfrm>
        </p:spPr>
        <p:txBody>
          <a:bodyPr>
            <a:normAutofit fontScale="25000" lnSpcReduction="20000"/>
          </a:bodyPr>
          <a:lstStyle/>
          <a:p>
            <a:r>
              <a:rPr lang="en-US" sz="8800" dirty="0">
                <a:latin typeface="Times New Roman" panose="02020603050405020304" pitchFamily="18" charset="0"/>
                <a:cs typeface="Times New Roman" panose="02020603050405020304" pitchFamily="18" charset="0"/>
              </a:rPr>
              <a:t>1. User Interface Module</a:t>
            </a:r>
          </a:p>
          <a:p>
            <a:pPr marL="0" indent="0">
              <a:buNone/>
            </a:pPr>
            <a:r>
              <a:rPr lang="en-US" sz="8800" dirty="0">
                <a:latin typeface="Times New Roman" panose="02020603050405020304" pitchFamily="18" charset="0"/>
                <a:cs typeface="Times New Roman" panose="02020603050405020304" pitchFamily="18" charset="0"/>
              </a:rPr>
              <a:t>Allows passengers to access the platform</a:t>
            </a:r>
          </a:p>
          <a:p>
            <a:pPr marL="0" indent="0">
              <a:buNone/>
            </a:pPr>
            <a:r>
              <a:rPr lang="en-US" sz="8800" dirty="0">
                <a:latin typeface="Times New Roman" panose="02020603050405020304" pitchFamily="18" charset="0"/>
                <a:cs typeface="Times New Roman" panose="02020603050405020304" pitchFamily="18" charset="0"/>
              </a:rPr>
              <a:t>Displays bus routes, delay updates, and crowd information</a:t>
            </a:r>
          </a:p>
          <a:p>
            <a:r>
              <a:rPr lang="en-US" sz="8800" dirty="0">
                <a:latin typeface="Times New Roman" panose="02020603050405020304" pitchFamily="18" charset="0"/>
                <a:cs typeface="Times New Roman" panose="02020603050405020304" pitchFamily="18" charset="0"/>
              </a:rPr>
              <a:t>2. Delay Reporting Module</a:t>
            </a:r>
          </a:p>
          <a:p>
            <a:pPr marL="0" indent="0">
              <a:buNone/>
            </a:pPr>
            <a:r>
              <a:rPr lang="en-US" sz="8800" dirty="0">
                <a:latin typeface="Times New Roman" panose="02020603050405020304" pitchFamily="18" charset="0"/>
                <a:cs typeface="Times New Roman" panose="02020603050405020304" pitchFamily="18" charset="0"/>
              </a:rPr>
              <a:t>Enables users to submit reports about bus delays</a:t>
            </a:r>
          </a:p>
          <a:p>
            <a:pPr marL="0" indent="0">
              <a:buNone/>
            </a:pPr>
            <a:r>
              <a:rPr lang="en-US" sz="8800" dirty="0">
                <a:latin typeface="Times New Roman" panose="02020603050405020304" pitchFamily="18" charset="0"/>
                <a:cs typeface="Times New Roman" panose="02020603050405020304" pitchFamily="18" charset="0"/>
              </a:rPr>
              <a:t>Updates delay information for other passengers</a:t>
            </a:r>
          </a:p>
          <a:p>
            <a:r>
              <a:rPr lang="en-US" sz="8800" dirty="0">
                <a:latin typeface="Times New Roman" panose="02020603050405020304" pitchFamily="18" charset="0"/>
                <a:cs typeface="Times New Roman" panose="02020603050405020304" pitchFamily="18" charset="0"/>
              </a:rPr>
              <a:t>3. Crowd Reporting Module</a:t>
            </a:r>
          </a:p>
          <a:p>
            <a:pPr marL="0" indent="0">
              <a:buNone/>
            </a:pPr>
            <a:r>
              <a:rPr lang="en-US" sz="8800" dirty="0">
                <a:latin typeface="Times New Roman" panose="02020603050405020304" pitchFamily="18" charset="0"/>
                <a:cs typeface="Times New Roman" panose="02020603050405020304" pitchFamily="18" charset="0"/>
              </a:rPr>
              <a:t>Allows passengers to report bus crowd levels</a:t>
            </a:r>
          </a:p>
          <a:p>
            <a:pPr marL="0" indent="0">
              <a:buNone/>
            </a:pPr>
            <a:r>
              <a:rPr lang="en-US" sz="8800" dirty="0">
                <a:latin typeface="Times New Roman" panose="02020603050405020304" pitchFamily="18" charset="0"/>
                <a:cs typeface="Times New Roman" panose="02020603050405020304" pitchFamily="18" charset="0"/>
              </a:rPr>
              <a:t>Helps other users know the bus occupancy before boarding</a:t>
            </a:r>
          </a:p>
          <a:p>
            <a:r>
              <a:rPr lang="en-US" sz="8800" dirty="0">
                <a:latin typeface="Times New Roman" panose="02020603050405020304" pitchFamily="18" charset="0"/>
                <a:cs typeface="Times New Roman" panose="02020603050405020304" pitchFamily="18" charset="0"/>
              </a:rPr>
              <a:t>4. Information Display Module</a:t>
            </a:r>
          </a:p>
          <a:p>
            <a:pPr marL="0" indent="0">
              <a:buNone/>
            </a:pPr>
            <a:r>
              <a:rPr lang="en-US" sz="8800" dirty="0">
                <a:latin typeface="Times New Roman" panose="02020603050405020304" pitchFamily="18" charset="0"/>
                <a:cs typeface="Times New Roman" panose="02020603050405020304" pitchFamily="18" charset="0"/>
              </a:rPr>
              <a:t>Shows submitted delay and crowd updates</a:t>
            </a:r>
          </a:p>
          <a:p>
            <a:pPr marL="0" indent="0">
              <a:buNone/>
            </a:pPr>
            <a:r>
              <a:rPr lang="en-US" sz="8800" dirty="0">
                <a:latin typeface="Times New Roman" panose="02020603050405020304" pitchFamily="18" charset="0"/>
                <a:cs typeface="Times New Roman" panose="02020603050405020304" pitchFamily="18" charset="0"/>
              </a:rPr>
              <a:t>Displays bus route and travel information</a:t>
            </a:r>
          </a:p>
          <a:p>
            <a:r>
              <a:rPr lang="en-US" sz="8800" dirty="0">
                <a:latin typeface="Times New Roman" panose="02020603050405020304" pitchFamily="18" charset="0"/>
                <a:cs typeface="Times New Roman" panose="02020603050405020304" pitchFamily="18" charset="0"/>
              </a:rPr>
              <a:t>5. Admin Module</a:t>
            </a:r>
          </a:p>
          <a:p>
            <a:pPr marL="0" indent="0">
              <a:buNone/>
            </a:pPr>
            <a:r>
              <a:rPr lang="en-US" sz="8800" dirty="0">
                <a:latin typeface="Times New Roman" panose="02020603050405020304" pitchFamily="18" charset="0"/>
                <a:cs typeface="Times New Roman" panose="02020603050405020304" pitchFamily="18" charset="0"/>
              </a:rPr>
              <a:t>Monitors submitted reports</a:t>
            </a:r>
          </a:p>
          <a:p>
            <a:pPr marL="0" indent="0">
              <a:buNone/>
            </a:pPr>
            <a:r>
              <a:rPr lang="en-US" sz="8800" dirty="0">
                <a:latin typeface="Times New Roman" panose="02020603050405020304" pitchFamily="18" charset="0"/>
                <a:cs typeface="Times New Roman" panose="02020603050405020304" pitchFamily="18" charset="0"/>
              </a:rPr>
              <a:t>Manages and maintains system information</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FCFA0EFF-1F67-0FF7-CC00-0C0BC63BA935}"/>
              </a:ext>
            </a:extLst>
          </p:cNvPr>
          <p:cNvSpPr>
            <a:spLocks noGrp="1" noChangeArrowheads="1"/>
          </p:cNvSpPr>
          <p:nvPr>
            <p:ph idx="1"/>
          </p:nvPr>
        </p:nvSpPr>
        <p:spPr bwMode="auto">
          <a:xfrm>
            <a:off x="650790" y="2042513"/>
            <a:ext cx="1109636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platform that enables passengers to report bus delays and crowd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updated bus information that helps travelers make better travel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an easy interface where users can share and access transport-related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waiting time and uncertainty for passengers at bus stops.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encourage passenger participation in sharing real-time travel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organize delay and crowd information in a single accessible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an Admin section for monitoring and managing submitted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awareness of bus availability and travel conditions for commuters</a:t>
            </a:r>
            <a:r>
              <a:rPr kumimoji="0" lang="en-US" altLang="en-US" sz="240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6EB4-6705-48FA-35AC-68B59D6CE779}"/>
              </a:ext>
            </a:extLst>
          </p:cNvPr>
          <p:cNvSpPr>
            <a:spLocks noGrp="1"/>
          </p:cNvSpPr>
          <p:nvPr>
            <p:ph type="title"/>
          </p:nvPr>
        </p:nvSpPr>
        <p:spPr/>
        <p:txBody>
          <a:bodyPr/>
          <a:lstStyle/>
          <a:p>
            <a:pPr algn="ctr"/>
            <a:r>
              <a:rPr lang="en-US" b="1" dirty="0"/>
              <a:t>Co’s Attainments - FWD</a:t>
            </a:r>
            <a:endParaRPr lang="en-IN" dirty="0"/>
          </a:p>
        </p:txBody>
      </p:sp>
      <p:sp>
        <p:nvSpPr>
          <p:cNvPr id="3" name="Content Placeholder 2">
            <a:extLst>
              <a:ext uri="{FF2B5EF4-FFF2-40B4-BE49-F238E27FC236}">
                <a16:creationId xmlns:a16="http://schemas.microsoft.com/office/drawing/2014/main" id="{D88DC01B-B5F3-00DB-3630-70831DA59FB9}"/>
              </a:ext>
            </a:extLst>
          </p:cNvPr>
          <p:cNvSpPr>
            <a:spLocks noGrp="1"/>
          </p:cNvSpPr>
          <p:nvPr>
            <p:ph sz="half" idx="1"/>
          </p:nvPr>
        </p:nvSpPr>
        <p:spPr>
          <a:xfrm>
            <a:off x="838200" y="1927450"/>
            <a:ext cx="5181600" cy="4351338"/>
          </a:xfrm>
        </p:spPr>
        <p:txBody>
          <a:bodyPr>
            <a:normAutofit/>
          </a:bodyPr>
          <a:lstStyle/>
          <a:p>
            <a:r>
              <a:rPr lang="en-IN" sz="2200" dirty="0">
                <a:latin typeface="Times New Roman" panose="02020603050405020304" pitchFamily="18" charset="0"/>
                <a:cs typeface="Times New Roman" panose="02020603050405020304" pitchFamily="18" charset="0"/>
              </a:rPr>
              <a:t>CO1-Internet fundamentals, HTML document structure, headings, paragraphs, links, introductory CSS styling, selectors, typography, colors , spacing.</a:t>
            </a:r>
          </a:p>
          <a:p>
            <a:r>
              <a:rPr lang="en-IN" sz="2200" dirty="0">
                <a:latin typeface="Times New Roman" panose="02020603050405020304" pitchFamily="18" charset="0"/>
                <a:cs typeface="Times New Roman" panose="02020603050405020304" pitchFamily="18" charset="0"/>
              </a:rPr>
              <a:t>CO2-</a:t>
            </a:r>
            <a:r>
              <a:rPr lang="en-US" sz="2200" dirty="0">
                <a:latin typeface="Times New Roman" panose="02020603050405020304" pitchFamily="18" charset="0"/>
                <a:cs typeface="Times New Roman" panose="02020603050405020304" pitchFamily="18" charset="0"/>
              </a:rPr>
              <a:t>HTML forms, form elements, input types, validation, semantic content, CSS layouts and styling.</a:t>
            </a:r>
          </a:p>
          <a:p>
            <a:r>
              <a:rPr lang="en-US" sz="2200" dirty="0">
                <a:latin typeface="Times New Roman" panose="02020603050405020304" pitchFamily="18" charset="0"/>
                <a:cs typeface="Times New Roman" panose="02020603050405020304" pitchFamily="18" charset="0"/>
              </a:rPr>
              <a:t>CO3-JavaScript fundamentals including expressions, conditions, loops, functions, objects and arrays.</a:t>
            </a:r>
            <a:endParaRPr lang="en-IN" sz="22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0A941E1-65D6-661A-3784-EA5D9EB2C466}"/>
              </a:ext>
            </a:extLst>
          </p:cNvPr>
          <p:cNvSpPr>
            <a:spLocks noGrp="1"/>
          </p:cNvSpPr>
          <p:nvPr>
            <p:ph sz="half" idx="2"/>
          </p:nvPr>
        </p:nvSpPr>
        <p:spPr/>
        <p:txBody>
          <a:bodyPr>
            <a:normAutofit/>
          </a:bodyPr>
          <a:lstStyle/>
          <a:p>
            <a:r>
              <a:rPr lang="en-US" sz="2200" dirty="0">
                <a:latin typeface="Times New Roman" panose="02020603050405020304" pitchFamily="18" charset="0"/>
                <a:cs typeface="Times New Roman" panose="02020603050405020304" pitchFamily="18" charset="0"/>
              </a:rPr>
              <a:t>CO1-HTML page structure, headings, text content, links, CSS styling, fonts, colors, margin, padding, border for webpage design.</a:t>
            </a:r>
          </a:p>
          <a:p>
            <a:r>
              <a:rPr lang="en-US" sz="2200" dirty="0">
                <a:latin typeface="Times New Roman" panose="02020603050405020304" pitchFamily="18" charset="0"/>
                <a:cs typeface="Times New Roman" panose="02020603050405020304" pitchFamily="18" charset="0"/>
              </a:rPr>
              <a:t>CO2-Form for reporting bus delays, input fields, submit button, basic form validation, CSS layout for organizing the form.</a:t>
            </a:r>
          </a:p>
          <a:p>
            <a:r>
              <a:rPr lang="en-US" sz="2200" dirty="0">
                <a:latin typeface="Times New Roman" panose="02020603050405020304" pitchFamily="18" charset="0"/>
                <a:cs typeface="Times New Roman" panose="02020603050405020304" pitchFamily="18" charset="0"/>
              </a:rPr>
              <a:t>CO3-JavaScript variables, functions, conditions, arrays and objects used to store and manage bus delay reports.</a:t>
            </a:r>
          </a:p>
          <a:p>
            <a:endParaRPr lang="en-IN" dirty="0"/>
          </a:p>
        </p:txBody>
      </p:sp>
      <p:sp>
        <p:nvSpPr>
          <p:cNvPr id="5" name="Date Placeholder 4">
            <a:extLst>
              <a:ext uri="{FF2B5EF4-FFF2-40B4-BE49-F238E27FC236}">
                <a16:creationId xmlns:a16="http://schemas.microsoft.com/office/drawing/2014/main" id="{9406BF74-3B01-37A9-C8E9-D0CA4612BD74}"/>
              </a:ext>
            </a:extLst>
          </p:cNvPr>
          <p:cNvSpPr>
            <a:spLocks noGrp="1"/>
          </p:cNvSpPr>
          <p:nvPr>
            <p:ph type="dt" sz="half" idx="10"/>
          </p:nvPr>
        </p:nvSpPr>
        <p:spPr/>
        <p:txBody>
          <a:bodyPr/>
          <a:lstStyle/>
          <a:p>
            <a:fld id="{15BD6649-7156-A341-B9F2-F045B7551E13}" type="datetime1">
              <a:rPr lang="en-IN" smtClean="0"/>
              <a:t>06-03-2026</a:t>
            </a:fld>
            <a:endParaRPr lang="en-US" dirty="0"/>
          </a:p>
        </p:txBody>
      </p:sp>
      <p:sp>
        <p:nvSpPr>
          <p:cNvPr id="6" name="Footer Placeholder 5">
            <a:extLst>
              <a:ext uri="{FF2B5EF4-FFF2-40B4-BE49-F238E27FC236}">
                <a16:creationId xmlns:a16="http://schemas.microsoft.com/office/drawing/2014/main" id="{F30A657A-7592-C9DF-4171-99EBF47C0D62}"/>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72F87519-1EC4-B196-C579-B9E26AAAC0DF}"/>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16" name="Picture 15">
            <a:extLst>
              <a:ext uri="{FF2B5EF4-FFF2-40B4-BE49-F238E27FC236}">
                <a16:creationId xmlns:a16="http://schemas.microsoft.com/office/drawing/2014/main" id="{71D6C202-237E-63D4-C882-5191FC148DE2}"/>
              </a:ext>
            </a:extLst>
          </p:cNvPr>
          <p:cNvPicPr>
            <a:picLocks noChangeAspect="1"/>
          </p:cNvPicPr>
          <p:nvPr/>
        </p:nvPicPr>
        <p:blipFill>
          <a:blip r:embed="rId2"/>
          <a:stretch>
            <a:fillRect/>
          </a:stretch>
        </p:blipFill>
        <p:spPr>
          <a:xfrm>
            <a:off x="1" y="1"/>
            <a:ext cx="1631092" cy="702500"/>
          </a:xfrm>
          <a:prstGeom prst="rect">
            <a:avLst/>
          </a:prstGeom>
        </p:spPr>
      </p:pic>
      <p:sp>
        <p:nvSpPr>
          <p:cNvPr id="17" name="TextBox 16">
            <a:extLst>
              <a:ext uri="{FF2B5EF4-FFF2-40B4-BE49-F238E27FC236}">
                <a16:creationId xmlns:a16="http://schemas.microsoft.com/office/drawing/2014/main" id="{490F56FF-AC7D-119C-08AA-E006F7D960E8}"/>
              </a:ext>
            </a:extLst>
          </p:cNvPr>
          <p:cNvSpPr txBox="1"/>
          <p:nvPr/>
        </p:nvSpPr>
        <p:spPr>
          <a:xfrm>
            <a:off x="1190367" y="1411050"/>
            <a:ext cx="2391033" cy="461665"/>
          </a:xfrm>
          <a:prstGeom prst="rect">
            <a:avLst/>
          </a:prstGeom>
          <a:noFill/>
        </p:spPr>
        <p:txBody>
          <a:bodyPr wrap="square" rtlCol="0">
            <a:spAutoFit/>
          </a:bodyPr>
          <a:lstStyle/>
          <a:p>
            <a:r>
              <a:rPr lang="en-IN" sz="2400" dirty="0"/>
              <a:t>Syllabus</a:t>
            </a:r>
          </a:p>
        </p:txBody>
      </p:sp>
      <p:sp>
        <p:nvSpPr>
          <p:cNvPr id="18" name="TextBox 17">
            <a:extLst>
              <a:ext uri="{FF2B5EF4-FFF2-40B4-BE49-F238E27FC236}">
                <a16:creationId xmlns:a16="http://schemas.microsoft.com/office/drawing/2014/main" id="{BDA18C0D-68D9-6DEB-F904-87B595D0AED1}"/>
              </a:ext>
            </a:extLst>
          </p:cNvPr>
          <p:cNvSpPr txBox="1"/>
          <p:nvPr/>
        </p:nvSpPr>
        <p:spPr>
          <a:xfrm>
            <a:off x="6532605" y="1363960"/>
            <a:ext cx="2391033" cy="461665"/>
          </a:xfrm>
          <a:prstGeom prst="rect">
            <a:avLst/>
          </a:prstGeom>
          <a:noFill/>
        </p:spPr>
        <p:txBody>
          <a:bodyPr wrap="square" rtlCol="0">
            <a:spAutoFit/>
          </a:bodyPr>
          <a:lstStyle/>
          <a:p>
            <a:r>
              <a:rPr lang="en-IN" sz="2400" dirty="0"/>
              <a:t>Topics Covered</a:t>
            </a:r>
          </a:p>
        </p:txBody>
      </p:sp>
    </p:spTree>
    <p:extLst>
      <p:ext uri="{BB962C8B-B14F-4D97-AF65-F5344CB8AC3E}">
        <p14:creationId xmlns:p14="http://schemas.microsoft.com/office/powerpoint/2010/main" val="101236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9E7F-5F70-4B42-FCA3-205139B95394}"/>
              </a:ext>
            </a:extLst>
          </p:cNvPr>
          <p:cNvSpPr>
            <a:spLocks noGrp="1"/>
          </p:cNvSpPr>
          <p:nvPr>
            <p:ph type="title"/>
          </p:nvPr>
        </p:nvSpPr>
        <p:spPr/>
        <p:txBody>
          <a:bodyPr/>
          <a:lstStyle/>
          <a:p>
            <a:pPr algn="ctr"/>
            <a:r>
              <a:rPr lang="en-US" b="1" dirty="0"/>
              <a:t>Co’s Attainments - FWD</a:t>
            </a:r>
            <a:endParaRPr lang="en-IN" dirty="0"/>
          </a:p>
        </p:txBody>
      </p:sp>
      <p:sp>
        <p:nvSpPr>
          <p:cNvPr id="3" name="Content Placeholder 2">
            <a:extLst>
              <a:ext uri="{FF2B5EF4-FFF2-40B4-BE49-F238E27FC236}">
                <a16:creationId xmlns:a16="http://schemas.microsoft.com/office/drawing/2014/main" id="{FF4A9681-BC55-E563-A952-8EB75BE31915}"/>
              </a:ext>
            </a:extLst>
          </p:cNvPr>
          <p:cNvSpPr>
            <a:spLocks noGrp="1"/>
          </p:cNvSpPr>
          <p:nvPr>
            <p:ph sz="half" idx="1"/>
          </p:nvPr>
        </p:nvSpPr>
        <p:spPr>
          <a:xfrm>
            <a:off x="838201" y="2366962"/>
            <a:ext cx="5181600" cy="2921730"/>
          </a:xfrm>
        </p:spPr>
        <p:txBody>
          <a:bodyPr>
            <a:normAutofit/>
          </a:bodyPr>
          <a:lstStyle/>
          <a:p>
            <a:r>
              <a:rPr lang="en-IN" sz="2200" dirty="0">
                <a:latin typeface="Times New Roman" panose="02020603050405020304" pitchFamily="18" charset="0"/>
                <a:cs typeface="Times New Roman" panose="02020603050405020304" pitchFamily="18" charset="0"/>
              </a:rPr>
              <a:t>CO4-DOM manipulation, event handling, browser storage and asynchronous programming.</a:t>
            </a:r>
          </a:p>
          <a:p>
            <a:r>
              <a:rPr lang="en-IN" sz="2200" dirty="0">
                <a:latin typeface="Times New Roman" panose="02020603050405020304" pitchFamily="18" charset="0"/>
                <a:cs typeface="Times New Roman" panose="02020603050405020304" pitchFamily="18" charset="0"/>
              </a:rPr>
              <a:t>CO5-</a:t>
            </a:r>
            <a:r>
              <a:rPr lang="en-US" sz="2200" dirty="0">
                <a:latin typeface="Times New Roman" panose="02020603050405020304" pitchFamily="18" charset="0"/>
                <a:cs typeface="Times New Roman" panose="02020603050405020304" pitchFamily="18" charset="0"/>
              </a:rPr>
              <a:t>Advanced web development concepts including validation, API integration, optimization and deployment.</a:t>
            </a:r>
            <a:endParaRPr lang="en-IN" sz="22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F0869F6-30BE-33D1-1110-4A788825595D}"/>
              </a:ext>
            </a:extLst>
          </p:cNvPr>
          <p:cNvSpPr>
            <a:spLocks noGrp="1"/>
          </p:cNvSpPr>
          <p:nvPr>
            <p:ph sz="half" idx="2"/>
          </p:nvPr>
        </p:nvSpPr>
        <p:spPr>
          <a:xfrm>
            <a:off x="6172200" y="2366962"/>
            <a:ext cx="5181600" cy="2665414"/>
          </a:xfrm>
        </p:spPr>
        <p:txBody>
          <a:bodyPr>
            <a:normAutofit/>
          </a:bodyPr>
          <a:lstStyle/>
          <a:p>
            <a:r>
              <a:rPr lang="en-US" sz="2200" dirty="0">
                <a:latin typeface="Times New Roman" panose="02020603050405020304" pitchFamily="18" charset="0"/>
                <a:cs typeface="Times New Roman" panose="02020603050405020304" pitchFamily="18" charset="0"/>
              </a:rPr>
              <a:t>Event handling for form submission, DOM manipulation to dynamically display delay reports on the webpage.</a:t>
            </a:r>
          </a:p>
          <a:p>
            <a:r>
              <a:rPr lang="en-US" sz="2200" dirty="0">
                <a:latin typeface="Times New Roman" panose="02020603050405020304" pitchFamily="18" charset="0"/>
                <a:cs typeface="Times New Roman" panose="02020603050405020304" pitchFamily="18" charset="0"/>
              </a:rPr>
              <a:t>JavaScript validation, handling user input dynamically, use of meta tags and basic page optimization.</a:t>
            </a:r>
            <a:endParaRPr lang="en-IN"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8A35B88-AF77-1E42-1083-F7DDE8ABAF5E}"/>
              </a:ext>
            </a:extLst>
          </p:cNvPr>
          <p:cNvSpPr>
            <a:spLocks noGrp="1"/>
          </p:cNvSpPr>
          <p:nvPr>
            <p:ph type="dt" sz="half" idx="10"/>
          </p:nvPr>
        </p:nvSpPr>
        <p:spPr/>
        <p:txBody>
          <a:bodyPr/>
          <a:lstStyle/>
          <a:p>
            <a:fld id="{15BD6649-7156-A341-B9F2-F045B7551E13}" type="datetime1">
              <a:rPr lang="en-IN" smtClean="0"/>
              <a:t>06-03-2026</a:t>
            </a:fld>
            <a:endParaRPr lang="en-US"/>
          </a:p>
        </p:txBody>
      </p:sp>
      <p:sp>
        <p:nvSpPr>
          <p:cNvPr id="6" name="Footer Placeholder 5">
            <a:extLst>
              <a:ext uri="{FF2B5EF4-FFF2-40B4-BE49-F238E27FC236}">
                <a16:creationId xmlns:a16="http://schemas.microsoft.com/office/drawing/2014/main" id="{37029C69-9635-DB45-54A2-E57AF89578C5}"/>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930207FD-7A8D-A9CE-DEA2-CF3BA547F93E}"/>
              </a:ext>
            </a:extLst>
          </p:cNvPr>
          <p:cNvSpPr>
            <a:spLocks noGrp="1"/>
          </p:cNvSpPr>
          <p:nvPr>
            <p:ph type="sldNum" sz="quarter" idx="12"/>
          </p:nvPr>
        </p:nvSpPr>
        <p:spPr/>
        <p:txBody>
          <a:bodyPr/>
          <a:lstStyle/>
          <a:p>
            <a:fld id="{B961B71F-4B40-8942-BB88-E0F5C0B46E10}" type="slidenum">
              <a:rPr lang="en-US" smtClean="0"/>
              <a:t>11</a:t>
            </a:fld>
            <a:endParaRPr lang="en-US"/>
          </a:p>
        </p:txBody>
      </p:sp>
      <p:sp>
        <p:nvSpPr>
          <p:cNvPr id="10" name="TextBox 9">
            <a:extLst>
              <a:ext uri="{FF2B5EF4-FFF2-40B4-BE49-F238E27FC236}">
                <a16:creationId xmlns:a16="http://schemas.microsoft.com/office/drawing/2014/main" id="{4039822A-1F04-FF61-A096-BC9834DB28A2}"/>
              </a:ext>
            </a:extLst>
          </p:cNvPr>
          <p:cNvSpPr txBox="1"/>
          <p:nvPr/>
        </p:nvSpPr>
        <p:spPr>
          <a:xfrm>
            <a:off x="1190367" y="1797992"/>
            <a:ext cx="2391033" cy="461665"/>
          </a:xfrm>
          <a:prstGeom prst="rect">
            <a:avLst/>
          </a:prstGeom>
          <a:noFill/>
        </p:spPr>
        <p:txBody>
          <a:bodyPr wrap="square" rtlCol="0">
            <a:spAutoFit/>
          </a:bodyPr>
          <a:lstStyle/>
          <a:p>
            <a:r>
              <a:rPr lang="en-IN" sz="2400" dirty="0"/>
              <a:t>Syllabus</a:t>
            </a:r>
          </a:p>
        </p:txBody>
      </p:sp>
      <p:sp>
        <p:nvSpPr>
          <p:cNvPr id="11" name="TextBox 10">
            <a:extLst>
              <a:ext uri="{FF2B5EF4-FFF2-40B4-BE49-F238E27FC236}">
                <a16:creationId xmlns:a16="http://schemas.microsoft.com/office/drawing/2014/main" id="{F656C354-EDFD-4F95-EFC5-A64045404B62}"/>
              </a:ext>
            </a:extLst>
          </p:cNvPr>
          <p:cNvSpPr txBox="1"/>
          <p:nvPr/>
        </p:nvSpPr>
        <p:spPr>
          <a:xfrm>
            <a:off x="6532605" y="1791685"/>
            <a:ext cx="2391033" cy="461665"/>
          </a:xfrm>
          <a:prstGeom prst="rect">
            <a:avLst/>
          </a:prstGeom>
          <a:noFill/>
        </p:spPr>
        <p:txBody>
          <a:bodyPr wrap="square" rtlCol="0">
            <a:spAutoFit/>
          </a:bodyPr>
          <a:lstStyle/>
          <a:p>
            <a:r>
              <a:rPr lang="en-IN" sz="2400" dirty="0"/>
              <a:t>Topics Covered</a:t>
            </a:r>
          </a:p>
        </p:txBody>
      </p:sp>
      <p:pic>
        <p:nvPicPr>
          <p:cNvPr id="12" name="Picture 11">
            <a:extLst>
              <a:ext uri="{FF2B5EF4-FFF2-40B4-BE49-F238E27FC236}">
                <a16:creationId xmlns:a16="http://schemas.microsoft.com/office/drawing/2014/main" id="{DDBFE376-0EC4-8D26-25D7-97EF19C16358}"/>
              </a:ext>
            </a:extLst>
          </p:cNvPr>
          <p:cNvPicPr>
            <a:picLocks noChangeAspect="1"/>
          </p:cNvPicPr>
          <p:nvPr/>
        </p:nvPicPr>
        <p:blipFill>
          <a:blip r:embed="rId2"/>
          <a:stretch>
            <a:fillRect/>
          </a:stretch>
        </p:blipFill>
        <p:spPr>
          <a:xfrm>
            <a:off x="1" y="1"/>
            <a:ext cx="1631092" cy="702500"/>
          </a:xfrm>
          <a:prstGeom prst="rect">
            <a:avLst/>
          </a:prstGeom>
        </p:spPr>
      </p:pic>
    </p:spTree>
    <p:extLst>
      <p:ext uri="{BB962C8B-B14F-4D97-AF65-F5344CB8AC3E}">
        <p14:creationId xmlns:p14="http://schemas.microsoft.com/office/powerpoint/2010/main" val="1490340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6383-687D-437D-BEF9-62A84FF3BE3E}"/>
              </a:ext>
            </a:extLst>
          </p:cNvPr>
          <p:cNvSpPr>
            <a:spLocks noGrp="1"/>
          </p:cNvSpPr>
          <p:nvPr>
            <p:ph type="title"/>
          </p:nvPr>
        </p:nvSpPr>
        <p:spPr>
          <a:xfrm>
            <a:off x="662458" y="382636"/>
            <a:ext cx="10515600" cy="1325563"/>
          </a:xfrm>
        </p:spPr>
        <p:txBody>
          <a:bodyPr/>
          <a:lstStyle/>
          <a:p>
            <a:pPr algn="ctr"/>
            <a:r>
              <a:rPr lang="en-US" b="1" dirty="0"/>
              <a:t>Co’s Attainments - DSA</a:t>
            </a:r>
            <a:endParaRPr lang="en-IN" dirty="0"/>
          </a:p>
        </p:txBody>
      </p:sp>
      <p:sp>
        <p:nvSpPr>
          <p:cNvPr id="4" name="Content Placeholder 3">
            <a:extLst>
              <a:ext uri="{FF2B5EF4-FFF2-40B4-BE49-F238E27FC236}">
                <a16:creationId xmlns:a16="http://schemas.microsoft.com/office/drawing/2014/main" id="{A274FAE7-3CBC-76C9-29AF-568DC034D647}"/>
              </a:ext>
            </a:extLst>
          </p:cNvPr>
          <p:cNvSpPr>
            <a:spLocks noGrp="1"/>
          </p:cNvSpPr>
          <p:nvPr>
            <p:ph sz="half" idx="2"/>
          </p:nvPr>
        </p:nvSpPr>
        <p:spPr>
          <a:xfrm>
            <a:off x="762471" y="2582820"/>
            <a:ext cx="5157787" cy="3684588"/>
          </a:xfrm>
        </p:spPr>
        <p:txBody>
          <a:bodyPr>
            <a:normAutofit fontScale="85000" lnSpcReduction="20000"/>
          </a:bodyPr>
          <a:lstStyle/>
          <a:p>
            <a:r>
              <a:rPr lang="en-US" sz="2400" dirty="0">
                <a:latin typeface="Times New Roman" panose="02020603050405020304" pitchFamily="18" charset="0"/>
                <a:cs typeface="Times New Roman" panose="02020603050405020304" pitchFamily="18" charset="0"/>
              </a:rPr>
              <a:t>CO1-Focuses on analyzing problem statements and evaluating algorithm efficiency using asymptotic notations (Big-O, Ω, Θ). It also includes implementation and comparison of classical searching and sorting algorithms.</a:t>
            </a:r>
          </a:p>
          <a:p>
            <a:r>
              <a:rPr lang="en-US" sz="2400" dirty="0">
                <a:latin typeface="Times New Roman" panose="02020603050405020304" pitchFamily="18" charset="0"/>
                <a:cs typeface="Times New Roman" panose="02020603050405020304" pitchFamily="18" charset="0"/>
              </a:rPr>
              <a:t>CO2-Covers design and implementation of Abstract Data Types (ADTs) using arrays and linked lists. It includes operations such as insertion, deletion, searching, traversal, and analyzing their trade-offs.</a:t>
            </a:r>
          </a:p>
          <a:p>
            <a:r>
              <a:rPr lang="en-US" sz="2400" dirty="0">
                <a:latin typeface="Times New Roman" panose="02020603050405020304" pitchFamily="18" charset="0"/>
                <a:cs typeface="Times New Roman" panose="02020603050405020304" pitchFamily="18" charset="0"/>
              </a:rPr>
              <a:t>CO3-Deals with application of stacks and queues to model real-world workflows. It also introduces heaps and priority queues for handling prioritized processing tasks.</a:t>
            </a:r>
          </a:p>
        </p:txBody>
      </p:sp>
      <p:sp>
        <p:nvSpPr>
          <p:cNvPr id="6" name="Content Placeholder 5">
            <a:extLst>
              <a:ext uri="{FF2B5EF4-FFF2-40B4-BE49-F238E27FC236}">
                <a16:creationId xmlns:a16="http://schemas.microsoft.com/office/drawing/2014/main" id="{FE8E330E-FF7C-095C-5418-6B5FCC308807}"/>
              </a:ext>
            </a:extLst>
          </p:cNvPr>
          <p:cNvSpPr>
            <a:spLocks noGrp="1"/>
          </p:cNvSpPr>
          <p:nvPr>
            <p:ph sz="quarter" idx="4"/>
          </p:nvPr>
        </p:nvSpPr>
        <p:spPr>
          <a:xfrm>
            <a:off x="6096000" y="2479717"/>
            <a:ext cx="5183188" cy="3684588"/>
          </a:xfrm>
        </p:spPr>
        <p:txBody>
          <a:bodyPr>
            <a:normAutofit fontScale="85000" lnSpcReduction="20000"/>
          </a:bodyPr>
          <a:lstStyle/>
          <a:p>
            <a:r>
              <a:rPr lang="en-US" sz="2400" dirty="0">
                <a:latin typeface="Times New Roman" panose="02020603050405020304" pitchFamily="18" charset="0"/>
                <a:cs typeface="Times New Roman" panose="02020603050405020304" pitchFamily="18" charset="0"/>
              </a:rPr>
              <a:t>Basic problem analysis and logical design of the bus delay reporting workflow. No major searching/sorting algorithms implemented, but logical conditions are used to process delay reports.</a:t>
            </a:r>
          </a:p>
          <a:p>
            <a:r>
              <a:rPr lang="en-US" sz="2400" dirty="0">
                <a:latin typeface="Times New Roman" panose="02020603050405020304" pitchFamily="18" charset="0"/>
                <a:cs typeface="Times New Roman" panose="02020603050405020304" pitchFamily="18" charset="0"/>
              </a:rPr>
              <a:t>Use of arrays / collections to store multiple bus delay records and traversal of records to display reports.</a:t>
            </a:r>
          </a:p>
          <a:p>
            <a:r>
              <a:rPr lang="en-US" sz="2400" dirty="0">
                <a:latin typeface="Times New Roman" panose="02020603050405020304" pitchFamily="18" charset="0"/>
                <a:cs typeface="Times New Roman" panose="02020603050405020304" pitchFamily="18" charset="0"/>
              </a:rPr>
              <a:t>Queue-like behavior when multiple users submit delay reports which are processed and displayed sequentially</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B28C269F-6817-1350-A826-DA99AF29D2A5}"/>
              </a:ext>
            </a:extLst>
          </p:cNvPr>
          <p:cNvSpPr>
            <a:spLocks noGrp="1"/>
          </p:cNvSpPr>
          <p:nvPr>
            <p:ph type="dt" sz="half" idx="10"/>
          </p:nvPr>
        </p:nvSpPr>
        <p:spPr/>
        <p:txBody>
          <a:bodyPr/>
          <a:lstStyle/>
          <a:p>
            <a:fld id="{D93985EC-8C41-0649-B43C-28421C497AA5}" type="datetime1">
              <a:rPr lang="en-IN" smtClean="0"/>
              <a:t>06-03-2026</a:t>
            </a:fld>
            <a:endParaRPr lang="en-US"/>
          </a:p>
        </p:txBody>
      </p:sp>
      <p:sp>
        <p:nvSpPr>
          <p:cNvPr id="8" name="Footer Placeholder 7">
            <a:extLst>
              <a:ext uri="{FF2B5EF4-FFF2-40B4-BE49-F238E27FC236}">
                <a16:creationId xmlns:a16="http://schemas.microsoft.com/office/drawing/2014/main" id="{0F559E41-6589-8BCF-7B9E-EFAC288C3512}"/>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39277789-E4D1-0BB6-F180-2C36C5FE7D3A}"/>
              </a:ext>
            </a:extLst>
          </p:cNvPr>
          <p:cNvSpPr>
            <a:spLocks noGrp="1"/>
          </p:cNvSpPr>
          <p:nvPr>
            <p:ph type="sldNum" sz="quarter" idx="12"/>
          </p:nvPr>
        </p:nvSpPr>
        <p:spPr/>
        <p:txBody>
          <a:bodyPr/>
          <a:lstStyle/>
          <a:p>
            <a:fld id="{D6396F81-1074-6B40-A92F-A06CCD3B4178}" type="slidenum">
              <a:rPr lang="en-US" smtClean="0"/>
              <a:t>12</a:t>
            </a:fld>
            <a:endParaRPr lang="en-US"/>
          </a:p>
        </p:txBody>
      </p:sp>
      <p:sp>
        <p:nvSpPr>
          <p:cNvPr id="10" name="TextBox 9">
            <a:extLst>
              <a:ext uri="{FF2B5EF4-FFF2-40B4-BE49-F238E27FC236}">
                <a16:creationId xmlns:a16="http://schemas.microsoft.com/office/drawing/2014/main" id="{A33F1CAE-32B0-9AFA-A8F0-9507724C37FD}"/>
              </a:ext>
            </a:extLst>
          </p:cNvPr>
          <p:cNvSpPr txBox="1"/>
          <p:nvPr/>
        </p:nvSpPr>
        <p:spPr>
          <a:xfrm>
            <a:off x="1190367" y="1845852"/>
            <a:ext cx="2391033" cy="461665"/>
          </a:xfrm>
          <a:prstGeom prst="rect">
            <a:avLst/>
          </a:prstGeom>
          <a:noFill/>
        </p:spPr>
        <p:txBody>
          <a:bodyPr wrap="square" rtlCol="0">
            <a:spAutoFit/>
          </a:bodyPr>
          <a:lstStyle/>
          <a:p>
            <a:r>
              <a:rPr lang="en-IN" sz="2400" dirty="0"/>
              <a:t>Syllabus</a:t>
            </a:r>
          </a:p>
        </p:txBody>
      </p:sp>
      <p:sp>
        <p:nvSpPr>
          <p:cNvPr id="11" name="TextBox 10">
            <a:extLst>
              <a:ext uri="{FF2B5EF4-FFF2-40B4-BE49-F238E27FC236}">
                <a16:creationId xmlns:a16="http://schemas.microsoft.com/office/drawing/2014/main" id="{8DD5BF3D-3E8C-14B5-806B-994AD296E88A}"/>
              </a:ext>
            </a:extLst>
          </p:cNvPr>
          <p:cNvSpPr txBox="1"/>
          <p:nvPr/>
        </p:nvSpPr>
        <p:spPr>
          <a:xfrm>
            <a:off x="6532605" y="1845851"/>
            <a:ext cx="2391033" cy="461665"/>
          </a:xfrm>
          <a:prstGeom prst="rect">
            <a:avLst/>
          </a:prstGeom>
          <a:noFill/>
        </p:spPr>
        <p:txBody>
          <a:bodyPr wrap="square" rtlCol="0">
            <a:spAutoFit/>
          </a:bodyPr>
          <a:lstStyle/>
          <a:p>
            <a:r>
              <a:rPr lang="en-IN" sz="2400" dirty="0"/>
              <a:t>Topics Covered</a:t>
            </a:r>
          </a:p>
        </p:txBody>
      </p:sp>
      <p:pic>
        <p:nvPicPr>
          <p:cNvPr id="12" name="Picture 11">
            <a:extLst>
              <a:ext uri="{FF2B5EF4-FFF2-40B4-BE49-F238E27FC236}">
                <a16:creationId xmlns:a16="http://schemas.microsoft.com/office/drawing/2014/main" id="{D9CCA72C-5991-AEF1-6640-C399D86C77EB}"/>
              </a:ext>
            </a:extLst>
          </p:cNvPr>
          <p:cNvPicPr>
            <a:picLocks noChangeAspect="1"/>
          </p:cNvPicPr>
          <p:nvPr/>
        </p:nvPicPr>
        <p:blipFill>
          <a:blip r:embed="rId2"/>
          <a:stretch>
            <a:fillRect/>
          </a:stretch>
        </p:blipFill>
        <p:spPr>
          <a:xfrm>
            <a:off x="1" y="1"/>
            <a:ext cx="1631092" cy="702500"/>
          </a:xfrm>
          <a:prstGeom prst="rect">
            <a:avLst/>
          </a:prstGeom>
        </p:spPr>
      </p:pic>
    </p:spTree>
    <p:extLst>
      <p:ext uri="{BB962C8B-B14F-4D97-AF65-F5344CB8AC3E}">
        <p14:creationId xmlns:p14="http://schemas.microsoft.com/office/powerpoint/2010/main" val="771699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95274-A047-4CEC-5FB4-EA71A04D2DA9}"/>
              </a:ext>
            </a:extLst>
          </p:cNvPr>
          <p:cNvSpPr>
            <a:spLocks noGrp="1"/>
          </p:cNvSpPr>
          <p:nvPr>
            <p:ph type="title"/>
          </p:nvPr>
        </p:nvSpPr>
        <p:spPr/>
        <p:txBody>
          <a:bodyPr/>
          <a:lstStyle/>
          <a:p>
            <a:pPr algn="ctr"/>
            <a:r>
              <a:rPr lang="en-US" b="1" dirty="0"/>
              <a:t>Co’s Attainments - DSA</a:t>
            </a:r>
            <a:endParaRPr lang="en-IN" dirty="0"/>
          </a:p>
        </p:txBody>
      </p:sp>
      <p:sp>
        <p:nvSpPr>
          <p:cNvPr id="4" name="Content Placeholder 3">
            <a:extLst>
              <a:ext uri="{FF2B5EF4-FFF2-40B4-BE49-F238E27FC236}">
                <a16:creationId xmlns:a16="http://schemas.microsoft.com/office/drawing/2014/main" id="{4F0DB66F-B50D-9D73-D7A2-C9FC5AA5E42A}"/>
              </a:ext>
            </a:extLst>
          </p:cNvPr>
          <p:cNvSpPr>
            <a:spLocks noGrp="1"/>
          </p:cNvSpPr>
          <p:nvPr>
            <p:ph sz="half" idx="2"/>
          </p:nvPr>
        </p:nvSpPr>
        <p:spPr/>
        <p:txBody>
          <a:bodyPr>
            <a:normAutofit/>
          </a:bodyPr>
          <a:lstStyle/>
          <a:p>
            <a:r>
              <a:rPr lang="en-IN" sz="2000" dirty="0">
                <a:latin typeface="Times New Roman" panose="02020603050405020304" pitchFamily="18" charset="0"/>
                <a:cs typeface="Times New Roman" panose="02020603050405020304" pitchFamily="18" charset="0"/>
              </a:rPr>
              <a:t>CO4-Hash-based data structures and Java Collections (List, Queue, Deque, Map).</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CO5-Design, develop, and evaluate practical applications using linear data structures..</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CO6-Develop programming skills to create applications using Data Structures and implement real-world solutions..</a:t>
            </a:r>
            <a:endParaRPr lang="en-IN" sz="20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8C75A24B-EC8D-00C0-9F4C-3CA9CC6C781F}"/>
              </a:ext>
            </a:extLst>
          </p:cNvPr>
          <p:cNvSpPr>
            <a:spLocks noGrp="1"/>
          </p:cNvSpPr>
          <p:nvPr>
            <p:ph sz="quarter" idx="4"/>
          </p:nvPr>
        </p:nvSpPr>
        <p:spPr/>
        <p:txBody>
          <a:bodyPr>
            <a:normAutofit/>
          </a:bodyPr>
          <a:lstStyle/>
          <a:p>
            <a:r>
              <a:rPr lang="en-US" sz="2000" dirty="0">
                <a:latin typeface="Times New Roman" panose="02020603050405020304" pitchFamily="18" charset="0"/>
                <a:cs typeface="Times New Roman" panose="02020603050405020304" pitchFamily="18" charset="0"/>
              </a:rPr>
              <a:t>Use of Java collections such as </a:t>
            </a:r>
            <a:r>
              <a:rPr lang="en-US" sz="2000" dirty="0" err="1">
                <a:latin typeface="Times New Roman" panose="02020603050405020304" pitchFamily="18" charset="0"/>
                <a:cs typeface="Times New Roman" panose="02020603050405020304" pitchFamily="18" charset="0"/>
              </a:rPr>
              <a:t>ArrayList</a:t>
            </a:r>
            <a:r>
              <a:rPr lang="en-US" sz="2000" dirty="0">
                <a:latin typeface="Times New Roman" panose="02020603050405020304" pitchFamily="18" charset="0"/>
                <a:cs typeface="Times New Roman" panose="02020603050405020304" pitchFamily="18" charset="0"/>
              </a:rPr>
              <a:t> or List to store and manage bus objects and delay data efficiently.</a:t>
            </a:r>
          </a:p>
          <a:p>
            <a:r>
              <a:rPr lang="en-US" sz="2000" dirty="0">
                <a:latin typeface="Times New Roman" panose="02020603050405020304" pitchFamily="18" charset="0"/>
                <a:cs typeface="Times New Roman" panose="02020603050405020304" pitchFamily="18" charset="0"/>
              </a:rPr>
              <a:t>The Bus Delay Reporting System itself acts as a practical application where data structures manage real-time delay information.</a:t>
            </a:r>
          </a:p>
          <a:p>
            <a:r>
              <a:rPr lang="en-US" sz="2000" dirty="0">
                <a:latin typeface="Times New Roman" panose="02020603050405020304" pitchFamily="18" charset="0"/>
                <a:cs typeface="Times New Roman" panose="02020603050405020304" pitchFamily="18" charset="0"/>
              </a:rPr>
              <a:t>Implementation of the complete application using Java classes, objects, and data structures to handle bus data and display reports.</a:t>
            </a:r>
            <a:endParaRPr lang="en-IN" sz="2000"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D8B042CA-9848-FC51-353E-FFB5D8D95096}"/>
              </a:ext>
            </a:extLst>
          </p:cNvPr>
          <p:cNvSpPr>
            <a:spLocks noGrp="1"/>
          </p:cNvSpPr>
          <p:nvPr>
            <p:ph type="dt" sz="half" idx="10"/>
          </p:nvPr>
        </p:nvSpPr>
        <p:spPr/>
        <p:txBody>
          <a:bodyPr/>
          <a:lstStyle/>
          <a:p>
            <a:fld id="{C9977CD1-E97C-BA41-8E49-9F39B98FFBE8}" type="datetime1">
              <a:rPr lang="en-IN" smtClean="0"/>
              <a:t>06-03-2026</a:t>
            </a:fld>
            <a:endParaRPr lang="en-US"/>
          </a:p>
        </p:txBody>
      </p:sp>
      <p:sp>
        <p:nvSpPr>
          <p:cNvPr id="8" name="Footer Placeholder 7">
            <a:extLst>
              <a:ext uri="{FF2B5EF4-FFF2-40B4-BE49-F238E27FC236}">
                <a16:creationId xmlns:a16="http://schemas.microsoft.com/office/drawing/2014/main" id="{6032DFD3-CC96-BA91-48EC-14378CDDDB2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2110E05-7DEF-30F4-5E58-CA95A0325236}"/>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10" name="TextBox 9">
            <a:extLst>
              <a:ext uri="{FF2B5EF4-FFF2-40B4-BE49-F238E27FC236}">
                <a16:creationId xmlns:a16="http://schemas.microsoft.com/office/drawing/2014/main" id="{B17988AC-2FFE-58C7-1916-F2AA4008CF5A}"/>
              </a:ext>
            </a:extLst>
          </p:cNvPr>
          <p:cNvSpPr txBox="1"/>
          <p:nvPr/>
        </p:nvSpPr>
        <p:spPr>
          <a:xfrm>
            <a:off x="1190367" y="1845852"/>
            <a:ext cx="2391033" cy="461665"/>
          </a:xfrm>
          <a:prstGeom prst="rect">
            <a:avLst/>
          </a:prstGeom>
          <a:noFill/>
        </p:spPr>
        <p:txBody>
          <a:bodyPr wrap="square" rtlCol="0">
            <a:spAutoFit/>
          </a:bodyPr>
          <a:lstStyle/>
          <a:p>
            <a:r>
              <a:rPr lang="en-IN" sz="2400" dirty="0"/>
              <a:t>Syllabus</a:t>
            </a:r>
          </a:p>
        </p:txBody>
      </p:sp>
      <p:sp>
        <p:nvSpPr>
          <p:cNvPr id="11" name="TextBox 10">
            <a:extLst>
              <a:ext uri="{FF2B5EF4-FFF2-40B4-BE49-F238E27FC236}">
                <a16:creationId xmlns:a16="http://schemas.microsoft.com/office/drawing/2014/main" id="{11F7D2C6-8687-679A-9BD6-3EA39B704614}"/>
              </a:ext>
            </a:extLst>
          </p:cNvPr>
          <p:cNvSpPr txBox="1"/>
          <p:nvPr/>
        </p:nvSpPr>
        <p:spPr>
          <a:xfrm>
            <a:off x="6532605" y="1845851"/>
            <a:ext cx="2391033" cy="461665"/>
          </a:xfrm>
          <a:prstGeom prst="rect">
            <a:avLst/>
          </a:prstGeom>
          <a:noFill/>
        </p:spPr>
        <p:txBody>
          <a:bodyPr wrap="square" rtlCol="0">
            <a:spAutoFit/>
          </a:bodyPr>
          <a:lstStyle/>
          <a:p>
            <a:r>
              <a:rPr lang="en-IN" sz="2400" dirty="0"/>
              <a:t>Topics Covered</a:t>
            </a:r>
          </a:p>
        </p:txBody>
      </p:sp>
      <p:pic>
        <p:nvPicPr>
          <p:cNvPr id="12" name="Picture 11">
            <a:extLst>
              <a:ext uri="{FF2B5EF4-FFF2-40B4-BE49-F238E27FC236}">
                <a16:creationId xmlns:a16="http://schemas.microsoft.com/office/drawing/2014/main" id="{A1681D4F-AB1F-22FF-9E75-975FC4235FF2}"/>
              </a:ext>
            </a:extLst>
          </p:cNvPr>
          <p:cNvPicPr>
            <a:picLocks noChangeAspect="1"/>
          </p:cNvPicPr>
          <p:nvPr/>
        </p:nvPicPr>
        <p:blipFill>
          <a:blip r:embed="rId2"/>
          <a:stretch>
            <a:fillRect/>
          </a:stretch>
        </p:blipFill>
        <p:spPr>
          <a:xfrm>
            <a:off x="1" y="1"/>
            <a:ext cx="1631092" cy="702500"/>
          </a:xfrm>
          <a:prstGeom prst="rect">
            <a:avLst/>
          </a:prstGeom>
        </p:spPr>
      </p:pic>
    </p:spTree>
    <p:extLst>
      <p:ext uri="{BB962C8B-B14F-4D97-AF65-F5344CB8AC3E}">
        <p14:creationId xmlns:p14="http://schemas.microsoft.com/office/powerpoint/2010/main" val="305588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785551" y="-211786"/>
            <a:ext cx="10515600" cy="1325563"/>
          </a:xfrm>
        </p:spPr>
        <p:txBody>
          <a:bodyPr/>
          <a:lstStyle/>
          <a:p>
            <a:r>
              <a:rPr lang="en-US" dirty="0"/>
              <a:t>Screenshots for FWD</a:t>
            </a:r>
          </a:p>
        </p:txBody>
      </p:sp>
      <p:pic>
        <p:nvPicPr>
          <p:cNvPr id="8" name="Content Placeholder 7">
            <a:extLst>
              <a:ext uri="{FF2B5EF4-FFF2-40B4-BE49-F238E27FC236}">
                <a16:creationId xmlns:a16="http://schemas.microsoft.com/office/drawing/2014/main" id="{499A9490-B79B-3FF0-3C1F-04C9044E5927}"/>
              </a:ext>
            </a:extLst>
          </p:cNvPr>
          <p:cNvPicPr>
            <a:picLocks noGrp="1" noChangeAspect="1"/>
          </p:cNvPicPr>
          <p:nvPr>
            <p:ph idx="1"/>
          </p:nvPr>
        </p:nvPicPr>
        <p:blipFill>
          <a:blip r:embed="rId2"/>
          <a:stretch>
            <a:fillRect/>
          </a:stretch>
        </p:blipFill>
        <p:spPr>
          <a:xfrm>
            <a:off x="571636" y="1046295"/>
            <a:ext cx="10714202" cy="3571768"/>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06-03-2026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0" name="Picture 9">
            <a:extLst>
              <a:ext uri="{FF2B5EF4-FFF2-40B4-BE49-F238E27FC236}">
                <a16:creationId xmlns:a16="http://schemas.microsoft.com/office/drawing/2014/main" id="{A935B18B-F1D9-0C1C-2D7F-70A567849935}"/>
              </a:ext>
            </a:extLst>
          </p:cNvPr>
          <p:cNvPicPr>
            <a:picLocks noChangeAspect="1"/>
          </p:cNvPicPr>
          <p:nvPr/>
        </p:nvPicPr>
        <p:blipFill>
          <a:blip r:embed="rId3"/>
          <a:stretch>
            <a:fillRect/>
          </a:stretch>
        </p:blipFill>
        <p:spPr>
          <a:xfrm>
            <a:off x="571636" y="4800626"/>
            <a:ext cx="10714202" cy="1738286"/>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A2B11-40CD-CA02-FD96-13597CE01CF2}"/>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789F43DF-D180-3AD7-0931-84A1E05288C0}"/>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3586CD2-1F3B-50E5-746F-37BD331DC9DA}"/>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8" name="Picture 7">
            <a:extLst>
              <a:ext uri="{FF2B5EF4-FFF2-40B4-BE49-F238E27FC236}">
                <a16:creationId xmlns:a16="http://schemas.microsoft.com/office/drawing/2014/main" id="{A0DDC057-232E-EF73-1558-C8881519E735}"/>
              </a:ext>
            </a:extLst>
          </p:cNvPr>
          <p:cNvPicPr>
            <a:picLocks noChangeAspect="1"/>
          </p:cNvPicPr>
          <p:nvPr/>
        </p:nvPicPr>
        <p:blipFill>
          <a:blip r:embed="rId2"/>
          <a:stretch>
            <a:fillRect/>
          </a:stretch>
        </p:blipFill>
        <p:spPr>
          <a:xfrm>
            <a:off x="1040026" y="3842094"/>
            <a:ext cx="9034850" cy="2616372"/>
          </a:xfrm>
          <a:prstGeom prst="rect">
            <a:avLst/>
          </a:prstGeom>
        </p:spPr>
      </p:pic>
      <p:pic>
        <p:nvPicPr>
          <p:cNvPr id="10" name="Picture 9">
            <a:extLst>
              <a:ext uri="{FF2B5EF4-FFF2-40B4-BE49-F238E27FC236}">
                <a16:creationId xmlns:a16="http://schemas.microsoft.com/office/drawing/2014/main" id="{CF71A61B-B20F-1AE1-CA11-8FDCF1231A80}"/>
              </a:ext>
            </a:extLst>
          </p:cNvPr>
          <p:cNvPicPr>
            <a:picLocks noChangeAspect="1"/>
          </p:cNvPicPr>
          <p:nvPr/>
        </p:nvPicPr>
        <p:blipFill>
          <a:blip r:embed="rId3"/>
          <a:stretch>
            <a:fillRect/>
          </a:stretch>
        </p:blipFill>
        <p:spPr>
          <a:xfrm>
            <a:off x="1040026" y="351251"/>
            <a:ext cx="9034850" cy="3412269"/>
          </a:xfrm>
          <a:prstGeom prst="rect">
            <a:avLst/>
          </a:prstGeom>
        </p:spPr>
      </p:pic>
      <p:pic>
        <p:nvPicPr>
          <p:cNvPr id="5" name="Picture 4">
            <a:extLst>
              <a:ext uri="{FF2B5EF4-FFF2-40B4-BE49-F238E27FC236}">
                <a16:creationId xmlns:a16="http://schemas.microsoft.com/office/drawing/2014/main" id="{637974BE-43F7-C635-56D7-2E3D2BEEEFBD}"/>
              </a:ext>
            </a:extLst>
          </p:cNvPr>
          <p:cNvPicPr>
            <a:picLocks noChangeAspect="1"/>
          </p:cNvPicPr>
          <p:nvPr/>
        </p:nvPicPr>
        <p:blipFill>
          <a:blip r:embed="rId4"/>
          <a:stretch>
            <a:fillRect/>
          </a:stretch>
        </p:blipFill>
        <p:spPr>
          <a:xfrm>
            <a:off x="1" y="1"/>
            <a:ext cx="1631092" cy="702500"/>
          </a:xfrm>
          <a:prstGeom prst="rect">
            <a:avLst/>
          </a:prstGeom>
        </p:spPr>
      </p:pic>
    </p:spTree>
    <p:extLst>
      <p:ext uri="{BB962C8B-B14F-4D97-AF65-F5344CB8AC3E}">
        <p14:creationId xmlns:p14="http://schemas.microsoft.com/office/powerpoint/2010/main" val="300683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303CF-5F3A-2A81-5854-80DA79AD6DE5}"/>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CE932394-2575-F1AF-C1B4-A7C2B2A85138}"/>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0A77C816-CB31-CE0F-5715-8F950AAD1B07}"/>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6" name="Picture 5">
            <a:extLst>
              <a:ext uri="{FF2B5EF4-FFF2-40B4-BE49-F238E27FC236}">
                <a16:creationId xmlns:a16="http://schemas.microsoft.com/office/drawing/2014/main" id="{EA8CB436-FFB2-695B-E9FF-B79A2152ED53}"/>
              </a:ext>
            </a:extLst>
          </p:cNvPr>
          <p:cNvPicPr>
            <a:picLocks noChangeAspect="1"/>
          </p:cNvPicPr>
          <p:nvPr/>
        </p:nvPicPr>
        <p:blipFill>
          <a:blip r:embed="rId2"/>
          <a:stretch>
            <a:fillRect/>
          </a:stretch>
        </p:blipFill>
        <p:spPr>
          <a:xfrm>
            <a:off x="1375719" y="375422"/>
            <a:ext cx="8822724" cy="5626264"/>
          </a:xfrm>
          <a:prstGeom prst="rect">
            <a:avLst/>
          </a:prstGeom>
        </p:spPr>
      </p:pic>
      <p:pic>
        <p:nvPicPr>
          <p:cNvPr id="5" name="Picture 4">
            <a:extLst>
              <a:ext uri="{FF2B5EF4-FFF2-40B4-BE49-F238E27FC236}">
                <a16:creationId xmlns:a16="http://schemas.microsoft.com/office/drawing/2014/main" id="{23A59090-AB20-A1B0-228B-58E01BE7AC22}"/>
              </a:ext>
            </a:extLst>
          </p:cNvPr>
          <p:cNvPicPr>
            <a:picLocks noChangeAspect="1"/>
          </p:cNvPicPr>
          <p:nvPr/>
        </p:nvPicPr>
        <p:blipFill>
          <a:blip r:embed="rId3"/>
          <a:stretch>
            <a:fillRect/>
          </a:stretch>
        </p:blipFill>
        <p:spPr>
          <a:xfrm>
            <a:off x="1" y="1"/>
            <a:ext cx="1631092" cy="702500"/>
          </a:xfrm>
          <a:prstGeom prst="rect">
            <a:avLst/>
          </a:prstGeom>
        </p:spPr>
      </p:pic>
    </p:spTree>
    <p:extLst>
      <p:ext uri="{BB962C8B-B14F-4D97-AF65-F5344CB8AC3E}">
        <p14:creationId xmlns:p14="http://schemas.microsoft.com/office/powerpoint/2010/main" val="147227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3813A-906D-8336-B501-56F461E5D18F}"/>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643926BB-0FA3-D4EF-6119-4DDFA57C9910}"/>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1F4E8A8E-3C52-1F1C-7EEA-08B6AC667EE7}"/>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6" name="Picture 5">
            <a:extLst>
              <a:ext uri="{FF2B5EF4-FFF2-40B4-BE49-F238E27FC236}">
                <a16:creationId xmlns:a16="http://schemas.microsoft.com/office/drawing/2014/main" id="{6F44689B-7C19-E52E-4FDE-DA3519F3B1B4}"/>
              </a:ext>
            </a:extLst>
          </p:cNvPr>
          <p:cNvPicPr>
            <a:picLocks noChangeAspect="1"/>
          </p:cNvPicPr>
          <p:nvPr/>
        </p:nvPicPr>
        <p:blipFill>
          <a:blip r:embed="rId2"/>
          <a:stretch>
            <a:fillRect/>
          </a:stretch>
        </p:blipFill>
        <p:spPr>
          <a:xfrm>
            <a:off x="115331" y="136525"/>
            <a:ext cx="5379308" cy="2992431"/>
          </a:xfrm>
          <a:prstGeom prst="rect">
            <a:avLst/>
          </a:prstGeom>
        </p:spPr>
      </p:pic>
      <p:pic>
        <p:nvPicPr>
          <p:cNvPr id="8" name="Picture 7">
            <a:extLst>
              <a:ext uri="{FF2B5EF4-FFF2-40B4-BE49-F238E27FC236}">
                <a16:creationId xmlns:a16="http://schemas.microsoft.com/office/drawing/2014/main" id="{5955665B-F5BD-38F9-C68E-2CA741C6B528}"/>
              </a:ext>
            </a:extLst>
          </p:cNvPr>
          <p:cNvPicPr>
            <a:picLocks noChangeAspect="1"/>
          </p:cNvPicPr>
          <p:nvPr/>
        </p:nvPicPr>
        <p:blipFill>
          <a:blip r:embed="rId3"/>
          <a:stretch>
            <a:fillRect/>
          </a:stretch>
        </p:blipFill>
        <p:spPr>
          <a:xfrm>
            <a:off x="5774723" y="136526"/>
            <a:ext cx="5939481" cy="3076232"/>
          </a:xfrm>
          <a:prstGeom prst="rect">
            <a:avLst/>
          </a:prstGeom>
        </p:spPr>
      </p:pic>
      <p:pic>
        <p:nvPicPr>
          <p:cNvPr id="10" name="Picture 9">
            <a:extLst>
              <a:ext uri="{FF2B5EF4-FFF2-40B4-BE49-F238E27FC236}">
                <a16:creationId xmlns:a16="http://schemas.microsoft.com/office/drawing/2014/main" id="{4D93F904-0A29-05D9-57E4-7D28E7CE1590}"/>
              </a:ext>
            </a:extLst>
          </p:cNvPr>
          <p:cNvPicPr>
            <a:picLocks noChangeAspect="1"/>
          </p:cNvPicPr>
          <p:nvPr/>
        </p:nvPicPr>
        <p:blipFill>
          <a:blip r:embed="rId4"/>
          <a:stretch>
            <a:fillRect/>
          </a:stretch>
        </p:blipFill>
        <p:spPr>
          <a:xfrm>
            <a:off x="1346885" y="3352800"/>
            <a:ext cx="8855676" cy="3087352"/>
          </a:xfrm>
          <a:prstGeom prst="rect">
            <a:avLst/>
          </a:prstGeom>
        </p:spPr>
      </p:pic>
      <p:pic>
        <p:nvPicPr>
          <p:cNvPr id="5" name="Picture 4">
            <a:extLst>
              <a:ext uri="{FF2B5EF4-FFF2-40B4-BE49-F238E27FC236}">
                <a16:creationId xmlns:a16="http://schemas.microsoft.com/office/drawing/2014/main" id="{3A1DB19D-3E16-67FE-20B7-E3E9D34BE804}"/>
              </a:ext>
            </a:extLst>
          </p:cNvPr>
          <p:cNvPicPr>
            <a:picLocks noChangeAspect="1"/>
          </p:cNvPicPr>
          <p:nvPr/>
        </p:nvPicPr>
        <p:blipFill>
          <a:blip r:embed="rId5"/>
          <a:stretch>
            <a:fillRect/>
          </a:stretch>
        </p:blipFill>
        <p:spPr>
          <a:xfrm>
            <a:off x="1" y="1"/>
            <a:ext cx="1631092" cy="702500"/>
          </a:xfrm>
          <a:prstGeom prst="rect">
            <a:avLst/>
          </a:prstGeom>
        </p:spPr>
      </p:pic>
    </p:spTree>
    <p:extLst>
      <p:ext uri="{BB962C8B-B14F-4D97-AF65-F5344CB8AC3E}">
        <p14:creationId xmlns:p14="http://schemas.microsoft.com/office/powerpoint/2010/main" val="147117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19C3C0-AD67-81CC-C5BB-67E5AB73C3FE}"/>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FA765E71-4756-A27C-1263-C17DB7B80BFF}"/>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FC5FF5F9-DCCE-CE0F-7BF6-2C1BF81C6AA7}"/>
              </a:ext>
            </a:extLst>
          </p:cNvPr>
          <p:cNvSpPr>
            <a:spLocks noGrp="1"/>
          </p:cNvSpPr>
          <p:nvPr>
            <p:ph type="sldNum" sz="quarter" idx="12"/>
          </p:nvPr>
        </p:nvSpPr>
        <p:spPr/>
        <p:txBody>
          <a:bodyPr/>
          <a:lstStyle/>
          <a:p>
            <a:fld id="{B961B71F-4B40-8942-BB88-E0F5C0B46E10}" type="slidenum">
              <a:rPr lang="en-US" smtClean="0"/>
              <a:t>18</a:t>
            </a:fld>
            <a:endParaRPr lang="en-US"/>
          </a:p>
        </p:txBody>
      </p:sp>
      <p:pic>
        <p:nvPicPr>
          <p:cNvPr id="5" name="Picture 4">
            <a:extLst>
              <a:ext uri="{FF2B5EF4-FFF2-40B4-BE49-F238E27FC236}">
                <a16:creationId xmlns:a16="http://schemas.microsoft.com/office/drawing/2014/main" id="{2CCAF53D-7606-D0CD-2353-029E5F057C99}"/>
              </a:ext>
            </a:extLst>
          </p:cNvPr>
          <p:cNvPicPr>
            <a:picLocks noChangeAspect="1"/>
          </p:cNvPicPr>
          <p:nvPr/>
        </p:nvPicPr>
        <p:blipFill>
          <a:blip r:embed="rId2"/>
          <a:stretch>
            <a:fillRect/>
          </a:stretch>
        </p:blipFill>
        <p:spPr>
          <a:xfrm>
            <a:off x="1" y="1"/>
            <a:ext cx="1631092" cy="702500"/>
          </a:xfrm>
          <a:prstGeom prst="rect">
            <a:avLst/>
          </a:prstGeom>
        </p:spPr>
      </p:pic>
      <p:pic>
        <p:nvPicPr>
          <p:cNvPr id="6" name="Picture 5">
            <a:extLst>
              <a:ext uri="{FF2B5EF4-FFF2-40B4-BE49-F238E27FC236}">
                <a16:creationId xmlns:a16="http://schemas.microsoft.com/office/drawing/2014/main" id="{9A48BBBB-3E2F-1195-B76E-FB9DD5B82BD6}"/>
              </a:ext>
            </a:extLst>
          </p:cNvPr>
          <p:cNvPicPr>
            <a:picLocks noChangeAspect="1"/>
          </p:cNvPicPr>
          <p:nvPr/>
        </p:nvPicPr>
        <p:blipFill>
          <a:blip r:embed="rId3"/>
          <a:stretch>
            <a:fillRect/>
          </a:stretch>
        </p:blipFill>
        <p:spPr>
          <a:xfrm>
            <a:off x="747008" y="136525"/>
            <a:ext cx="10697984" cy="6552053"/>
          </a:xfrm>
          <a:prstGeom prst="rect">
            <a:avLst/>
          </a:prstGeom>
        </p:spPr>
      </p:pic>
    </p:spTree>
    <p:extLst>
      <p:ext uri="{BB962C8B-B14F-4D97-AF65-F5344CB8AC3E}">
        <p14:creationId xmlns:p14="http://schemas.microsoft.com/office/powerpoint/2010/main" val="4183411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A1C1F1-DFA5-FB78-C742-8CCC4060916D}"/>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DBB5B1FA-F27A-47E5-EA81-9AB5A6AEC23B}"/>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D6B07798-6BE7-3122-B9A6-3F3A83255FAF}"/>
              </a:ext>
            </a:extLst>
          </p:cNvPr>
          <p:cNvSpPr>
            <a:spLocks noGrp="1"/>
          </p:cNvSpPr>
          <p:nvPr>
            <p:ph type="sldNum" sz="quarter" idx="12"/>
          </p:nvPr>
        </p:nvSpPr>
        <p:spPr/>
        <p:txBody>
          <a:bodyPr/>
          <a:lstStyle/>
          <a:p>
            <a:fld id="{B961B71F-4B40-8942-BB88-E0F5C0B46E10}" type="slidenum">
              <a:rPr lang="en-US" smtClean="0"/>
              <a:t>19</a:t>
            </a:fld>
            <a:endParaRPr lang="en-US"/>
          </a:p>
        </p:txBody>
      </p:sp>
      <p:pic>
        <p:nvPicPr>
          <p:cNvPr id="6" name="Picture 5">
            <a:extLst>
              <a:ext uri="{FF2B5EF4-FFF2-40B4-BE49-F238E27FC236}">
                <a16:creationId xmlns:a16="http://schemas.microsoft.com/office/drawing/2014/main" id="{8AE363A3-7BE0-9EF4-2040-C42962602439}"/>
              </a:ext>
            </a:extLst>
          </p:cNvPr>
          <p:cNvPicPr>
            <a:picLocks noChangeAspect="1"/>
          </p:cNvPicPr>
          <p:nvPr/>
        </p:nvPicPr>
        <p:blipFill>
          <a:blip r:embed="rId2"/>
          <a:stretch>
            <a:fillRect/>
          </a:stretch>
        </p:blipFill>
        <p:spPr>
          <a:xfrm>
            <a:off x="245679" y="815649"/>
            <a:ext cx="11422968" cy="5427553"/>
          </a:xfrm>
          <a:prstGeom prst="rect">
            <a:avLst/>
          </a:prstGeom>
        </p:spPr>
      </p:pic>
      <p:pic>
        <p:nvPicPr>
          <p:cNvPr id="5" name="Picture 4">
            <a:extLst>
              <a:ext uri="{FF2B5EF4-FFF2-40B4-BE49-F238E27FC236}">
                <a16:creationId xmlns:a16="http://schemas.microsoft.com/office/drawing/2014/main" id="{143A2D99-4C1A-3986-D7AC-5D87A6A48342}"/>
              </a:ext>
            </a:extLst>
          </p:cNvPr>
          <p:cNvPicPr>
            <a:picLocks noChangeAspect="1"/>
          </p:cNvPicPr>
          <p:nvPr/>
        </p:nvPicPr>
        <p:blipFill>
          <a:blip r:embed="rId3"/>
          <a:stretch>
            <a:fillRect/>
          </a:stretch>
        </p:blipFill>
        <p:spPr>
          <a:xfrm>
            <a:off x="1" y="1"/>
            <a:ext cx="1631092" cy="702500"/>
          </a:xfrm>
          <a:prstGeom prst="rect">
            <a:avLst/>
          </a:prstGeom>
        </p:spPr>
      </p:pic>
    </p:spTree>
    <p:extLst>
      <p:ext uri="{BB962C8B-B14F-4D97-AF65-F5344CB8AC3E}">
        <p14:creationId xmlns:p14="http://schemas.microsoft.com/office/powerpoint/2010/main" val="330282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CDC57-9528-9A85-E80A-59070A522814}"/>
              </a:ext>
            </a:extLst>
          </p:cNvPr>
          <p:cNvSpPr>
            <a:spLocks noGrp="1"/>
          </p:cNvSpPr>
          <p:nvPr>
            <p:ph type="dt" sz="half" idx="10"/>
          </p:nvPr>
        </p:nvSpPr>
        <p:spPr/>
        <p:txBody>
          <a:bodyPr/>
          <a:lstStyle/>
          <a:p>
            <a:fld id="{C7FB085D-B69B-9C45-93A5-77F47F2F6792}" type="datetime1">
              <a:rPr lang="en-IN" smtClean="0"/>
              <a:t>06-03-2026</a:t>
            </a:fld>
            <a:endParaRPr lang="en-US"/>
          </a:p>
        </p:txBody>
      </p:sp>
      <p:sp>
        <p:nvSpPr>
          <p:cNvPr id="3" name="Footer Placeholder 2">
            <a:extLst>
              <a:ext uri="{FF2B5EF4-FFF2-40B4-BE49-F238E27FC236}">
                <a16:creationId xmlns:a16="http://schemas.microsoft.com/office/drawing/2014/main" id="{92E631AE-150A-4BE5-4B7A-BED4A936033D}"/>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67A65FD1-34C9-90E8-AFAB-FAE6989EC589}"/>
              </a:ext>
            </a:extLst>
          </p:cNvPr>
          <p:cNvSpPr>
            <a:spLocks noGrp="1"/>
          </p:cNvSpPr>
          <p:nvPr>
            <p:ph type="sldNum" sz="quarter" idx="12"/>
          </p:nvPr>
        </p:nvSpPr>
        <p:spPr/>
        <p:txBody>
          <a:bodyPr/>
          <a:lstStyle/>
          <a:p>
            <a:fld id="{B961B71F-4B40-8942-BB88-E0F5C0B46E10}" type="slidenum">
              <a:rPr lang="en-US" smtClean="0"/>
              <a:t>20</a:t>
            </a:fld>
            <a:endParaRPr lang="en-US"/>
          </a:p>
        </p:txBody>
      </p:sp>
      <p:pic>
        <p:nvPicPr>
          <p:cNvPr id="6" name="Picture 5">
            <a:extLst>
              <a:ext uri="{FF2B5EF4-FFF2-40B4-BE49-F238E27FC236}">
                <a16:creationId xmlns:a16="http://schemas.microsoft.com/office/drawing/2014/main" id="{5F9DC654-41D6-F79E-B603-56B959526AF1}"/>
              </a:ext>
            </a:extLst>
          </p:cNvPr>
          <p:cNvPicPr>
            <a:picLocks noChangeAspect="1"/>
          </p:cNvPicPr>
          <p:nvPr/>
        </p:nvPicPr>
        <p:blipFill>
          <a:blip r:embed="rId2"/>
          <a:stretch>
            <a:fillRect/>
          </a:stretch>
        </p:blipFill>
        <p:spPr>
          <a:xfrm>
            <a:off x="1913220" y="136525"/>
            <a:ext cx="7271970" cy="3138146"/>
          </a:xfrm>
          <a:prstGeom prst="rect">
            <a:avLst/>
          </a:prstGeom>
        </p:spPr>
      </p:pic>
      <p:pic>
        <p:nvPicPr>
          <p:cNvPr id="8" name="Picture 7">
            <a:extLst>
              <a:ext uri="{FF2B5EF4-FFF2-40B4-BE49-F238E27FC236}">
                <a16:creationId xmlns:a16="http://schemas.microsoft.com/office/drawing/2014/main" id="{1C386107-B8B8-12AF-5181-285D864A423C}"/>
              </a:ext>
            </a:extLst>
          </p:cNvPr>
          <p:cNvPicPr>
            <a:picLocks noChangeAspect="1"/>
          </p:cNvPicPr>
          <p:nvPr/>
        </p:nvPicPr>
        <p:blipFill>
          <a:blip r:embed="rId3"/>
          <a:stretch>
            <a:fillRect/>
          </a:stretch>
        </p:blipFill>
        <p:spPr>
          <a:xfrm>
            <a:off x="1913220" y="3429000"/>
            <a:ext cx="7271970" cy="2996386"/>
          </a:xfrm>
          <a:prstGeom prst="rect">
            <a:avLst/>
          </a:prstGeom>
        </p:spPr>
      </p:pic>
      <p:pic>
        <p:nvPicPr>
          <p:cNvPr id="5" name="Picture 4">
            <a:extLst>
              <a:ext uri="{FF2B5EF4-FFF2-40B4-BE49-F238E27FC236}">
                <a16:creationId xmlns:a16="http://schemas.microsoft.com/office/drawing/2014/main" id="{8B784EA8-758D-AB9A-D766-B94948D2A6A1}"/>
              </a:ext>
            </a:extLst>
          </p:cNvPr>
          <p:cNvPicPr>
            <a:picLocks noChangeAspect="1"/>
          </p:cNvPicPr>
          <p:nvPr/>
        </p:nvPicPr>
        <p:blipFill>
          <a:blip r:embed="rId4"/>
          <a:stretch>
            <a:fillRect/>
          </a:stretch>
        </p:blipFill>
        <p:spPr>
          <a:xfrm>
            <a:off x="1" y="1"/>
            <a:ext cx="1631092" cy="702500"/>
          </a:xfrm>
          <a:prstGeom prst="rect">
            <a:avLst/>
          </a:prstGeom>
        </p:spPr>
      </p:pic>
    </p:spTree>
    <p:extLst>
      <p:ext uri="{BB962C8B-B14F-4D97-AF65-F5344CB8AC3E}">
        <p14:creationId xmlns:p14="http://schemas.microsoft.com/office/powerpoint/2010/main" val="1687644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6FC1-D311-5CBF-CC46-50DA8854DDE3}"/>
              </a:ext>
            </a:extLst>
          </p:cNvPr>
          <p:cNvSpPr>
            <a:spLocks noGrp="1"/>
          </p:cNvSpPr>
          <p:nvPr>
            <p:ph type="title"/>
          </p:nvPr>
        </p:nvSpPr>
        <p:spPr>
          <a:xfrm>
            <a:off x="838200" y="2660"/>
            <a:ext cx="10515600" cy="1325563"/>
          </a:xfrm>
        </p:spPr>
        <p:txBody>
          <a:bodyPr/>
          <a:lstStyle/>
          <a:p>
            <a:pPr algn="ctr"/>
            <a:r>
              <a:rPr lang="en-IN" dirty="0"/>
              <a:t>Screenshots of DSA</a:t>
            </a:r>
          </a:p>
        </p:txBody>
      </p:sp>
      <p:sp>
        <p:nvSpPr>
          <p:cNvPr id="3" name="Date Placeholder 2">
            <a:extLst>
              <a:ext uri="{FF2B5EF4-FFF2-40B4-BE49-F238E27FC236}">
                <a16:creationId xmlns:a16="http://schemas.microsoft.com/office/drawing/2014/main" id="{25DEB1A4-1BDA-DCCC-A66E-B19853BB4F44}"/>
              </a:ext>
            </a:extLst>
          </p:cNvPr>
          <p:cNvSpPr>
            <a:spLocks noGrp="1"/>
          </p:cNvSpPr>
          <p:nvPr>
            <p:ph type="dt" sz="half" idx="10"/>
          </p:nvPr>
        </p:nvSpPr>
        <p:spPr/>
        <p:txBody>
          <a:bodyPr/>
          <a:lstStyle/>
          <a:p>
            <a:fld id="{F3DDBCA1-9406-7A44-8A76-1046B4040777}" type="datetime1">
              <a:rPr lang="en-IN" smtClean="0"/>
              <a:t>06-03-2026</a:t>
            </a:fld>
            <a:endParaRPr lang="en-US"/>
          </a:p>
        </p:txBody>
      </p:sp>
      <p:sp>
        <p:nvSpPr>
          <p:cNvPr id="4" name="Footer Placeholder 3">
            <a:extLst>
              <a:ext uri="{FF2B5EF4-FFF2-40B4-BE49-F238E27FC236}">
                <a16:creationId xmlns:a16="http://schemas.microsoft.com/office/drawing/2014/main" id="{9177C413-098E-3616-5ECD-27188B4A17E5}"/>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F232A48B-76A4-B7DC-D310-9CE58929E799}"/>
              </a:ext>
            </a:extLst>
          </p:cNvPr>
          <p:cNvSpPr>
            <a:spLocks noGrp="1"/>
          </p:cNvSpPr>
          <p:nvPr>
            <p:ph type="sldNum" sz="quarter" idx="12"/>
          </p:nvPr>
        </p:nvSpPr>
        <p:spPr/>
        <p:txBody>
          <a:bodyPr/>
          <a:lstStyle/>
          <a:p>
            <a:fld id="{B961B71F-4B40-8942-BB88-E0F5C0B46E10}" type="slidenum">
              <a:rPr lang="en-US" smtClean="0"/>
              <a:t>21</a:t>
            </a:fld>
            <a:endParaRPr lang="en-US"/>
          </a:p>
        </p:txBody>
      </p:sp>
      <p:pic>
        <p:nvPicPr>
          <p:cNvPr id="6" name="Picture 5">
            <a:extLst>
              <a:ext uri="{FF2B5EF4-FFF2-40B4-BE49-F238E27FC236}">
                <a16:creationId xmlns:a16="http://schemas.microsoft.com/office/drawing/2014/main" id="{CEF87FA9-EDFB-54B7-553E-71599996EC53}"/>
              </a:ext>
            </a:extLst>
          </p:cNvPr>
          <p:cNvPicPr>
            <a:picLocks noChangeAspect="1"/>
          </p:cNvPicPr>
          <p:nvPr/>
        </p:nvPicPr>
        <p:blipFill>
          <a:blip r:embed="rId2"/>
          <a:stretch>
            <a:fillRect/>
          </a:stretch>
        </p:blipFill>
        <p:spPr>
          <a:xfrm>
            <a:off x="1" y="8239"/>
            <a:ext cx="1631092" cy="702500"/>
          </a:xfrm>
          <a:prstGeom prst="rect">
            <a:avLst/>
          </a:prstGeom>
        </p:spPr>
      </p:pic>
      <p:pic>
        <p:nvPicPr>
          <p:cNvPr id="10" name="Picture 9">
            <a:extLst>
              <a:ext uri="{FF2B5EF4-FFF2-40B4-BE49-F238E27FC236}">
                <a16:creationId xmlns:a16="http://schemas.microsoft.com/office/drawing/2014/main" id="{82C39C28-1F27-E27B-E101-F71ED3A8AE78}"/>
              </a:ext>
            </a:extLst>
          </p:cNvPr>
          <p:cNvPicPr>
            <a:picLocks noChangeAspect="1"/>
          </p:cNvPicPr>
          <p:nvPr/>
        </p:nvPicPr>
        <p:blipFill>
          <a:blip r:embed="rId3"/>
          <a:stretch>
            <a:fillRect/>
          </a:stretch>
        </p:blipFill>
        <p:spPr>
          <a:xfrm>
            <a:off x="129551" y="1641636"/>
            <a:ext cx="3909049" cy="4401300"/>
          </a:xfrm>
          <a:prstGeom prst="rect">
            <a:avLst/>
          </a:prstGeom>
        </p:spPr>
      </p:pic>
      <p:pic>
        <p:nvPicPr>
          <p:cNvPr id="12" name="Picture 11">
            <a:extLst>
              <a:ext uri="{FF2B5EF4-FFF2-40B4-BE49-F238E27FC236}">
                <a16:creationId xmlns:a16="http://schemas.microsoft.com/office/drawing/2014/main" id="{A8F2653F-2A7A-A53D-E62C-878977C3422D}"/>
              </a:ext>
            </a:extLst>
          </p:cNvPr>
          <p:cNvPicPr>
            <a:picLocks noChangeAspect="1"/>
          </p:cNvPicPr>
          <p:nvPr/>
        </p:nvPicPr>
        <p:blipFill>
          <a:blip r:embed="rId4"/>
          <a:stretch>
            <a:fillRect/>
          </a:stretch>
        </p:blipFill>
        <p:spPr>
          <a:xfrm>
            <a:off x="4338165" y="1588117"/>
            <a:ext cx="3025685" cy="4508338"/>
          </a:xfrm>
          <a:prstGeom prst="rect">
            <a:avLst/>
          </a:prstGeom>
        </p:spPr>
      </p:pic>
      <p:pic>
        <p:nvPicPr>
          <p:cNvPr id="14" name="Picture 13">
            <a:extLst>
              <a:ext uri="{FF2B5EF4-FFF2-40B4-BE49-F238E27FC236}">
                <a16:creationId xmlns:a16="http://schemas.microsoft.com/office/drawing/2014/main" id="{48AE8333-1631-7141-58DB-E19E4F3362C1}"/>
              </a:ext>
            </a:extLst>
          </p:cNvPr>
          <p:cNvPicPr>
            <a:picLocks noChangeAspect="1"/>
          </p:cNvPicPr>
          <p:nvPr/>
        </p:nvPicPr>
        <p:blipFill>
          <a:blip r:embed="rId5"/>
          <a:stretch>
            <a:fillRect/>
          </a:stretch>
        </p:blipFill>
        <p:spPr>
          <a:xfrm>
            <a:off x="8054546" y="1588117"/>
            <a:ext cx="3025685" cy="4508338"/>
          </a:xfrm>
          <a:prstGeom prst="rect">
            <a:avLst/>
          </a:prstGeom>
        </p:spPr>
      </p:pic>
    </p:spTree>
    <p:extLst>
      <p:ext uri="{BB962C8B-B14F-4D97-AF65-F5344CB8AC3E}">
        <p14:creationId xmlns:p14="http://schemas.microsoft.com/office/powerpoint/2010/main" val="908404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04080-568E-1366-B121-22F80E857E1C}"/>
              </a:ext>
            </a:extLst>
          </p:cNvPr>
          <p:cNvSpPr>
            <a:spLocks noGrp="1"/>
          </p:cNvSpPr>
          <p:nvPr>
            <p:ph type="title"/>
          </p:nvPr>
        </p:nvSpPr>
        <p:spPr/>
        <p:txBody>
          <a:bodyPr/>
          <a:lstStyle/>
          <a:p>
            <a:pPr algn="ctr"/>
            <a:r>
              <a:rPr lang="en-IN" dirty="0"/>
              <a:t>Screenshots of DSA</a:t>
            </a:r>
          </a:p>
        </p:txBody>
      </p:sp>
      <p:sp>
        <p:nvSpPr>
          <p:cNvPr id="3" name="Date Placeholder 2">
            <a:extLst>
              <a:ext uri="{FF2B5EF4-FFF2-40B4-BE49-F238E27FC236}">
                <a16:creationId xmlns:a16="http://schemas.microsoft.com/office/drawing/2014/main" id="{5AA92FEB-3598-4982-96AE-A8DEC15B75B9}"/>
              </a:ext>
            </a:extLst>
          </p:cNvPr>
          <p:cNvSpPr>
            <a:spLocks noGrp="1"/>
          </p:cNvSpPr>
          <p:nvPr>
            <p:ph type="dt" sz="half" idx="10"/>
          </p:nvPr>
        </p:nvSpPr>
        <p:spPr/>
        <p:txBody>
          <a:bodyPr/>
          <a:lstStyle/>
          <a:p>
            <a:fld id="{F3DDBCA1-9406-7A44-8A76-1046B4040777}" type="datetime1">
              <a:rPr lang="en-IN" smtClean="0"/>
              <a:t>06-03-2026</a:t>
            </a:fld>
            <a:endParaRPr lang="en-US"/>
          </a:p>
        </p:txBody>
      </p:sp>
      <p:sp>
        <p:nvSpPr>
          <p:cNvPr id="4" name="Footer Placeholder 3">
            <a:extLst>
              <a:ext uri="{FF2B5EF4-FFF2-40B4-BE49-F238E27FC236}">
                <a16:creationId xmlns:a16="http://schemas.microsoft.com/office/drawing/2014/main" id="{2698FD1F-2330-1129-D4A5-A089B2AE721D}"/>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E2B605CD-EBDB-723F-31C8-897D8641EA36}"/>
              </a:ext>
            </a:extLst>
          </p:cNvPr>
          <p:cNvSpPr>
            <a:spLocks noGrp="1"/>
          </p:cNvSpPr>
          <p:nvPr>
            <p:ph type="sldNum" sz="quarter" idx="12"/>
          </p:nvPr>
        </p:nvSpPr>
        <p:spPr/>
        <p:txBody>
          <a:bodyPr/>
          <a:lstStyle/>
          <a:p>
            <a:fld id="{B961B71F-4B40-8942-BB88-E0F5C0B46E10}" type="slidenum">
              <a:rPr lang="en-US" smtClean="0"/>
              <a:t>22</a:t>
            </a:fld>
            <a:endParaRPr lang="en-US"/>
          </a:p>
        </p:txBody>
      </p:sp>
      <p:pic>
        <p:nvPicPr>
          <p:cNvPr id="7" name="Picture 6">
            <a:extLst>
              <a:ext uri="{FF2B5EF4-FFF2-40B4-BE49-F238E27FC236}">
                <a16:creationId xmlns:a16="http://schemas.microsoft.com/office/drawing/2014/main" id="{55F919CC-EDF2-0AD5-D3F4-0F5EC91B2317}"/>
              </a:ext>
            </a:extLst>
          </p:cNvPr>
          <p:cNvPicPr>
            <a:picLocks noChangeAspect="1"/>
          </p:cNvPicPr>
          <p:nvPr/>
        </p:nvPicPr>
        <p:blipFill>
          <a:blip r:embed="rId2"/>
          <a:stretch>
            <a:fillRect/>
          </a:stretch>
        </p:blipFill>
        <p:spPr>
          <a:xfrm>
            <a:off x="3510469" y="1542079"/>
            <a:ext cx="3820058" cy="4696480"/>
          </a:xfrm>
          <a:prstGeom prst="rect">
            <a:avLst/>
          </a:prstGeom>
        </p:spPr>
      </p:pic>
      <p:pic>
        <p:nvPicPr>
          <p:cNvPr id="8" name="Picture 7">
            <a:extLst>
              <a:ext uri="{FF2B5EF4-FFF2-40B4-BE49-F238E27FC236}">
                <a16:creationId xmlns:a16="http://schemas.microsoft.com/office/drawing/2014/main" id="{33A96034-0D9B-B325-8681-3A69D5606EAF}"/>
              </a:ext>
            </a:extLst>
          </p:cNvPr>
          <p:cNvPicPr>
            <a:picLocks noChangeAspect="1"/>
          </p:cNvPicPr>
          <p:nvPr/>
        </p:nvPicPr>
        <p:blipFill>
          <a:blip r:embed="rId3"/>
          <a:stretch>
            <a:fillRect/>
          </a:stretch>
        </p:blipFill>
        <p:spPr>
          <a:xfrm>
            <a:off x="1" y="1"/>
            <a:ext cx="1631092" cy="702500"/>
          </a:xfrm>
          <a:prstGeom prst="rect">
            <a:avLst/>
          </a:prstGeom>
        </p:spPr>
      </p:pic>
    </p:spTree>
    <p:extLst>
      <p:ext uri="{BB962C8B-B14F-4D97-AF65-F5344CB8AC3E}">
        <p14:creationId xmlns:p14="http://schemas.microsoft.com/office/powerpoint/2010/main" val="2561551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project provides a platform for passengers to share and access information about bus delays and crowd conditions.</a:t>
            </a:r>
          </a:p>
          <a:p>
            <a:r>
              <a:rPr lang="en-US" sz="2400" dirty="0">
                <a:latin typeface="Times New Roman" panose="02020603050405020304" pitchFamily="18" charset="0"/>
                <a:cs typeface="Times New Roman" panose="02020603050405020304" pitchFamily="18" charset="0"/>
              </a:rPr>
              <a:t>It helps commuters stay informed and plan their travel more efficiently.</a:t>
            </a:r>
          </a:p>
          <a:p>
            <a:r>
              <a:rPr lang="en-US" sz="2400" dirty="0">
                <a:latin typeface="Times New Roman" panose="02020603050405020304" pitchFamily="18" charset="0"/>
                <a:cs typeface="Times New Roman" panose="02020603050405020304" pitchFamily="18" charset="0"/>
              </a:rPr>
              <a:t>The system enables passenger participation in reporting real-time travel conditions.</a:t>
            </a:r>
          </a:p>
          <a:p>
            <a:r>
              <a:rPr lang="en-US" sz="2400" dirty="0">
                <a:latin typeface="Times New Roman" panose="02020603050405020304" pitchFamily="18" charset="0"/>
                <a:cs typeface="Times New Roman" panose="02020603050405020304" pitchFamily="18" charset="0"/>
              </a:rPr>
              <a:t>The User and Admin sections help manage and maintain the information effectively.</a:t>
            </a:r>
          </a:p>
          <a:p>
            <a:r>
              <a:rPr lang="en-US" sz="2400" dirty="0">
                <a:latin typeface="Times New Roman" panose="02020603050405020304" pitchFamily="18" charset="0"/>
                <a:cs typeface="Times New Roman" panose="02020603050405020304" pitchFamily="18" charset="0"/>
              </a:rPr>
              <a:t>Overall, the platform improves awareness of bus availability and reduces uncertainty during travel.</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06-03-2026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23</a:t>
            </a:fld>
            <a:endParaRPr lang="en-US"/>
          </a:p>
        </p:txBody>
      </p:sp>
    </p:spTree>
    <p:extLst>
      <p:ext uri="{BB962C8B-B14F-4D97-AF65-F5344CB8AC3E}">
        <p14:creationId xmlns:p14="http://schemas.microsoft.com/office/powerpoint/2010/main" val="2858912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3" name="Content Placeholder 2">
            <a:extLst>
              <a:ext uri="{FF2B5EF4-FFF2-40B4-BE49-F238E27FC236}">
                <a16:creationId xmlns:a16="http://schemas.microsoft.com/office/drawing/2014/main" id="{81383DFD-4145-46B6-BA5B-4C9D68B54059}"/>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06-03-2026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24</a:t>
            </a:fld>
            <a:endParaRPr lang="en-US"/>
          </a:p>
        </p:txBody>
      </p:sp>
    </p:spTree>
    <p:extLst>
      <p:ext uri="{BB962C8B-B14F-4D97-AF65-F5344CB8AC3E}">
        <p14:creationId xmlns:p14="http://schemas.microsoft.com/office/powerpoint/2010/main" val="2357471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06-03-2026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4136</TotalTime>
  <Words>1401</Words>
  <Application>Microsoft Office PowerPoint</Application>
  <PresentationFormat>Widescreen</PresentationFormat>
  <Paragraphs>201</Paragraphs>
  <Slides>25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Calibri</vt:lpstr>
      <vt:lpstr>Calibri Light</vt:lpstr>
      <vt:lpstr>Google Sans</vt:lpstr>
      <vt:lpstr>Times New Roman</vt:lpstr>
      <vt:lpstr>Office Theme</vt:lpstr>
      <vt:lpstr>Custom Design</vt:lpstr>
      <vt:lpstr>INSTRUCTIONS</vt:lpstr>
      <vt:lpstr>Title: BUS DELAY AND CROWD REPORTING NETWORK</vt:lpstr>
      <vt:lpstr>OUTLINE</vt:lpstr>
      <vt:lpstr>Abstract</vt:lpstr>
      <vt:lpstr>Existing System </vt:lpstr>
      <vt:lpstr>Proposed System</vt:lpstr>
      <vt:lpstr>System Architecture</vt:lpstr>
      <vt:lpstr>Project Modules</vt:lpstr>
      <vt:lpstr>Objectives</vt:lpstr>
      <vt:lpstr>Co’s Attainments - FWD</vt:lpstr>
      <vt:lpstr>Co’s Attainments - FWD</vt:lpstr>
      <vt:lpstr>Co’s Attainments - DSA</vt:lpstr>
      <vt:lpstr>Co’s Attainments - DSA</vt:lpstr>
      <vt:lpstr>Screenshots for FWD</vt:lpstr>
      <vt:lpstr>PowerPoint Presentation</vt:lpstr>
      <vt:lpstr>PowerPoint Presentation</vt:lpstr>
      <vt:lpstr>PowerPoint Presentation</vt:lpstr>
      <vt:lpstr>PowerPoint Presentation</vt:lpstr>
      <vt:lpstr>PowerPoint Presentation</vt:lpstr>
      <vt:lpstr>PowerPoint Presentation</vt:lpstr>
      <vt:lpstr>Screenshots of DSA</vt:lpstr>
      <vt:lpstr>Screenshots of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Samhita Mattam</cp:lastModifiedBy>
  <cp:revision>52</cp:revision>
  <dcterms:created xsi:type="dcterms:W3CDTF">2022-05-20T10:20:31Z</dcterms:created>
  <dcterms:modified xsi:type="dcterms:W3CDTF">2026-03-06T17:04:45Z</dcterms:modified>
</cp:coreProperties>
</file>